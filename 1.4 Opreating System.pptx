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
  </p:notesMasterIdLst>
  <p:sldIdLst>
    <p:sldId id="256" r:id="rId2"/>
    <p:sldId id="329" r:id="rId3"/>
    <p:sldId id="331" r:id="rId4"/>
    <p:sldId id="345" r:id="rId5"/>
    <p:sldId id="332" r:id="rId6"/>
    <p:sldId id="341" r:id="rId7"/>
    <p:sldId id="342" r:id="rId8"/>
    <p:sldId id="344" r:id="rId9"/>
    <p:sldId id="346" r:id="rId10"/>
    <p:sldId id="340" r:id="rId11"/>
    <p:sldId id="335" r:id="rId12"/>
    <p:sldId id="336" r:id="rId13"/>
    <p:sldId id="337" r:id="rId14"/>
    <p:sldId id="33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E3582"/>
    <a:srgbClr val="202F70"/>
    <a:srgbClr val="DBEA16"/>
    <a:srgbClr val="C34821"/>
    <a:srgbClr val="068A7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0" d="100"/>
          <a:sy n="70" d="100"/>
        </p:scale>
        <p:origin x="66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82C4EA-0608-424F-AE66-CF7FF28675BF}" type="datetimeFigureOut">
              <a:rPr lang="en-IN" smtClean="0"/>
              <a:t>28-11-2022</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532A75-6597-4595-96A6-6B3B2F8ADC91}" type="slidenum">
              <a:rPr lang="en-IN" smtClean="0"/>
              <a:t>‹#›</a:t>
            </a:fld>
            <a:endParaRPr lang="en-IN"/>
          </a:p>
        </p:txBody>
      </p:sp>
    </p:spTree>
    <p:extLst>
      <p:ext uri="{BB962C8B-B14F-4D97-AF65-F5344CB8AC3E}">
        <p14:creationId xmlns:p14="http://schemas.microsoft.com/office/powerpoint/2010/main" val="1935519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CED41-01AB-4B29-A99E-1848753D82E1}"/>
              </a:ext>
            </a:extLst>
          </p:cNvPr>
          <p:cNvSpPr>
            <a:spLocks noGrp="1"/>
          </p:cNvSpPr>
          <p:nvPr>
            <p:ph type="ctrTitle"/>
          </p:nvPr>
        </p:nvSpPr>
        <p:spPr>
          <a:xfrm>
            <a:off x="1524000" y="1122363"/>
            <a:ext cx="9144000" cy="2387600"/>
          </a:xfrm>
        </p:spPr>
        <p:txBody>
          <a:bodyPr anchor="b"/>
          <a:lstStyle>
            <a:lvl1pPr algn="ctr">
              <a:defRPr sz="6000">
                <a:solidFill>
                  <a:schemeClr val="accent2">
                    <a:lumMod val="75000"/>
                  </a:schemeClr>
                </a:solidFill>
              </a:defRPr>
            </a:lvl1pPr>
          </a:lstStyle>
          <a:p>
            <a:r>
              <a:rPr lang="en-US" dirty="0" smtClean="0"/>
              <a:t>Click to edit Master title style</a:t>
            </a:r>
            <a:endParaRPr lang="en-US" dirty="0"/>
          </a:p>
        </p:txBody>
      </p:sp>
      <p:sp>
        <p:nvSpPr>
          <p:cNvPr id="3" name="Subtitle 2">
            <a:extLst>
              <a:ext uri="{FF2B5EF4-FFF2-40B4-BE49-F238E27FC236}">
                <a16:creationId xmlns:a16="http://schemas.microsoft.com/office/drawing/2014/main" id="{EB110348-9B6C-46FE-854F-FECFD37A181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Tree>
    <p:extLst>
      <p:ext uri="{BB962C8B-B14F-4D97-AF65-F5344CB8AC3E}">
        <p14:creationId xmlns:p14="http://schemas.microsoft.com/office/powerpoint/2010/main" val="2227457843"/>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B40A9-BFCE-494F-A5C7-0722D7EF31E2}"/>
              </a:ext>
            </a:extLst>
          </p:cNvPr>
          <p:cNvSpPr>
            <a:spLocks noGrp="1"/>
          </p:cNvSpPr>
          <p:nvPr>
            <p:ph type="title"/>
          </p:nvPr>
        </p:nvSpPr>
        <p:spPr/>
        <p:txBody>
          <a:bodyPr/>
          <a:lstStyle/>
          <a:p>
            <a:r>
              <a:rPr lang="en-US" dirty="0" smtClean="0"/>
              <a:t>Click to edit Master title style</a:t>
            </a:r>
            <a:endParaRPr lang="en-US" dirty="0"/>
          </a:p>
        </p:txBody>
      </p:sp>
      <p:sp>
        <p:nvSpPr>
          <p:cNvPr id="3" name="Content Placeholder 2">
            <a:extLst>
              <a:ext uri="{FF2B5EF4-FFF2-40B4-BE49-F238E27FC236}">
                <a16:creationId xmlns:a16="http://schemas.microsoft.com/office/drawing/2014/main" id="{126E112F-F211-4EC0-839B-E2E52A866D03}"/>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01864748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B4364-5DD2-4DA4-A43C-DF74061213CC}"/>
              </a:ext>
            </a:extLst>
          </p:cNvPr>
          <p:cNvSpPr>
            <a:spLocks noGrp="1"/>
          </p:cNvSpPr>
          <p:nvPr>
            <p:ph type="title"/>
          </p:nvPr>
        </p:nvSpPr>
        <p:spPr>
          <a:xfrm>
            <a:off x="831851" y="1709740"/>
            <a:ext cx="10515600" cy="2852737"/>
          </a:xfrm>
        </p:spPr>
        <p:txBody>
          <a:bodyPr anchor="b"/>
          <a:lstStyle>
            <a:lvl1pPr>
              <a:defRPr sz="6000"/>
            </a:lvl1pPr>
          </a:lstStyle>
          <a:p>
            <a:r>
              <a:rPr lang="en-US" dirty="0" smtClean="0"/>
              <a:t>Click to edit Master title style</a:t>
            </a:r>
            <a:endParaRPr lang="en-US" dirty="0"/>
          </a:p>
        </p:txBody>
      </p:sp>
      <p:sp>
        <p:nvSpPr>
          <p:cNvPr id="3" name="Text Placeholder 2">
            <a:extLst>
              <a:ext uri="{FF2B5EF4-FFF2-40B4-BE49-F238E27FC236}">
                <a16:creationId xmlns:a16="http://schemas.microsoft.com/office/drawing/2014/main" id="{535DA08E-72B9-4A98-9DF6-3BED9626DA27}"/>
              </a:ext>
            </a:extLst>
          </p:cNvPr>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Tree>
    <p:extLst>
      <p:ext uri="{BB962C8B-B14F-4D97-AF65-F5344CB8AC3E}">
        <p14:creationId xmlns:p14="http://schemas.microsoft.com/office/powerpoint/2010/main" val="3582269521"/>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9FF9D-5A31-4688-934A-FA697C99478A}"/>
              </a:ext>
            </a:extLst>
          </p:cNvPr>
          <p:cNvSpPr>
            <a:spLocks noGrp="1"/>
          </p:cNvSpPr>
          <p:nvPr>
            <p:ph type="title"/>
          </p:nvPr>
        </p:nvSpPr>
        <p:spPr/>
        <p:txBody>
          <a:bodyPr/>
          <a:lstStyle/>
          <a:p>
            <a:r>
              <a:rPr lang="en-US" dirty="0" smtClean="0"/>
              <a:t>Click to edit Master title style</a:t>
            </a:r>
            <a:endParaRPr lang="en-US" dirty="0"/>
          </a:p>
        </p:txBody>
      </p:sp>
      <p:sp>
        <p:nvSpPr>
          <p:cNvPr id="3" name="Content Placeholder 2">
            <a:extLst>
              <a:ext uri="{FF2B5EF4-FFF2-40B4-BE49-F238E27FC236}">
                <a16:creationId xmlns:a16="http://schemas.microsoft.com/office/drawing/2014/main" id="{5628D925-2F2F-49D2-828E-8F45842CB7ED}"/>
              </a:ext>
            </a:extLst>
          </p:cNvPr>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a:extLst>
              <a:ext uri="{FF2B5EF4-FFF2-40B4-BE49-F238E27FC236}">
                <a16:creationId xmlns:a16="http://schemas.microsoft.com/office/drawing/2014/main" id="{53911C3C-2F5D-46C2-82C0-4C3596F24C05}"/>
              </a:ext>
            </a:extLst>
          </p:cNvPr>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928473021"/>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90C50-3080-4D3B-ABE5-9DEBB20E76EB}"/>
              </a:ext>
            </a:extLst>
          </p:cNvPr>
          <p:cNvSpPr>
            <a:spLocks noGrp="1"/>
          </p:cNvSpPr>
          <p:nvPr>
            <p:ph type="title"/>
          </p:nvPr>
        </p:nvSpPr>
        <p:spPr>
          <a:xfrm>
            <a:off x="839788" y="365127"/>
            <a:ext cx="10515600" cy="1325563"/>
          </a:xfrm>
        </p:spPr>
        <p:txBody>
          <a:bodyPr/>
          <a:lstStyle/>
          <a:p>
            <a:r>
              <a:rPr lang="en-US" dirty="0" smtClean="0"/>
              <a:t>Click to edit Master title style</a:t>
            </a:r>
            <a:endParaRPr lang="en-US" dirty="0"/>
          </a:p>
        </p:txBody>
      </p:sp>
      <p:sp>
        <p:nvSpPr>
          <p:cNvPr id="3" name="Text Placeholder 2">
            <a:extLst>
              <a:ext uri="{FF2B5EF4-FFF2-40B4-BE49-F238E27FC236}">
                <a16:creationId xmlns:a16="http://schemas.microsoft.com/office/drawing/2014/main" id="{6717E71B-FFCC-495F-8DA1-D159FFFDA126}"/>
              </a:ext>
            </a:extLst>
          </p:cNvPr>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a:extLst>
              <a:ext uri="{FF2B5EF4-FFF2-40B4-BE49-F238E27FC236}">
                <a16:creationId xmlns:a16="http://schemas.microsoft.com/office/drawing/2014/main" id="{1418FFCC-E5BD-493F-B547-3354078B92CC}"/>
              </a:ext>
            </a:extLst>
          </p:cNvPr>
          <p:cNvSpPr>
            <a:spLocks noGrp="1"/>
          </p:cNvSpPr>
          <p:nvPr>
            <p:ph sz="half" idx="2"/>
          </p:nvPr>
        </p:nvSpPr>
        <p:spPr>
          <a:xfrm>
            <a:off x="839789"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a:extLst>
              <a:ext uri="{FF2B5EF4-FFF2-40B4-BE49-F238E27FC236}">
                <a16:creationId xmlns:a16="http://schemas.microsoft.com/office/drawing/2014/main" id="{A82636AA-0467-4DF0-9E1C-4A8C83E80C43}"/>
              </a:ext>
            </a:extLst>
          </p:cNvPr>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a:extLst>
              <a:ext uri="{FF2B5EF4-FFF2-40B4-BE49-F238E27FC236}">
                <a16:creationId xmlns:a16="http://schemas.microsoft.com/office/drawing/2014/main" id="{FED05BA2-AA1B-4449-A55D-27EEFABA47E1}"/>
              </a:ext>
            </a:extLst>
          </p:cNvPr>
          <p:cNvSpPr>
            <a:spLocks noGrp="1"/>
          </p:cNvSpPr>
          <p:nvPr>
            <p:ph sz="quarter" idx="4"/>
          </p:nvPr>
        </p:nvSpPr>
        <p:spPr>
          <a:xfrm>
            <a:off x="6172201"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428933108"/>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AEAED-3960-4105-B3C7-43C03952487D}"/>
              </a:ext>
            </a:extLst>
          </p:cNvPr>
          <p:cNvSpPr>
            <a:spLocks noGrp="1"/>
          </p:cNvSpPr>
          <p:nvPr>
            <p:ph type="title"/>
          </p:nvPr>
        </p:nvSpPr>
        <p:spPr/>
        <p:txBody>
          <a:bodyPr/>
          <a:lstStyle/>
          <a:p>
            <a:r>
              <a:rPr lang="en-US" dirty="0" smtClean="0"/>
              <a:t>Click to edit Master title style</a:t>
            </a:r>
            <a:endParaRPr lang="en-US" dirty="0"/>
          </a:p>
        </p:txBody>
      </p:sp>
    </p:spTree>
    <p:extLst>
      <p:ext uri="{BB962C8B-B14F-4D97-AF65-F5344CB8AC3E}">
        <p14:creationId xmlns:p14="http://schemas.microsoft.com/office/powerpoint/2010/main" val="2217654602"/>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47267958"/>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2E677-A5F7-4527-A99C-93D52923F665}"/>
              </a:ext>
            </a:extLst>
          </p:cNvPr>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a:extLst>
              <a:ext uri="{FF2B5EF4-FFF2-40B4-BE49-F238E27FC236}">
                <a16:creationId xmlns:a16="http://schemas.microsoft.com/office/drawing/2014/main" id="{791B5299-8BCF-43E7-9781-E82119248042}"/>
              </a:ext>
            </a:extLst>
          </p:cNvPr>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a:extLst>
              <a:ext uri="{FF2B5EF4-FFF2-40B4-BE49-F238E27FC236}">
                <a16:creationId xmlns:a16="http://schemas.microsoft.com/office/drawing/2014/main" id="{576E7012-B3B2-4C77-A0CE-2658A102A9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Tree>
    <p:extLst>
      <p:ext uri="{BB962C8B-B14F-4D97-AF65-F5344CB8AC3E}">
        <p14:creationId xmlns:p14="http://schemas.microsoft.com/office/powerpoint/2010/main" val="283224937"/>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940F2-654E-46A4-BE45-971A35D29A82}"/>
              </a:ext>
            </a:extLst>
          </p:cNvPr>
          <p:cNvSpPr>
            <a:spLocks noGrp="1"/>
          </p:cNvSpPr>
          <p:nvPr>
            <p:ph type="title"/>
          </p:nvPr>
        </p:nvSpPr>
        <p:spPr>
          <a:xfrm>
            <a:off x="839788" y="457200"/>
            <a:ext cx="3932237" cy="1600200"/>
          </a:xfrm>
        </p:spPr>
        <p:txBody>
          <a:bodyPr anchor="b"/>
          <a:lstStyle>
            <a:lvl1pPr>
              <a:defRPr sz="3200"/>
            </a:lvl1pPr>
          </a:lstStyle>
          <a:p>
            <a:r>
              <a:rPr lang="en-US" dirty="0" smtClean="0"/>
              <a:t>Click to edit Master title style</a:t>
            </a:r>
            <a:endParaRPr lang="en-US" dirty="0"/>
          </a:p>
        </p:txBody>
      </p:sp>
      <p:sp>
        <p:nvSpPr>
          <p:cNvPr id="3" name="Picture Placeholder 2">
            <a:extLst>
              <a:ext uri="{FF2B5EF4-FFF2-40B4-BE49-F238E27FC236}">
                <a16:creationId xmlns:a16="http://schemas.microsoft.com/office/drawing/2014/main" id="{180839DB-082F-400C-9F7D-C482A8DFC69B}"/>
              </a:ext>
            </a:extLst>
          </p:cNvPr>
          <p:cNvSpPr>
            <a:spLocks noGrp="1"/>
          </p:cNvSpPr>
          <p:nvPr>
            <p:ph type="pic" idx="1"/>
          </p:nvPr>
        </p:nvSpPr>
        <p:spPr>
          <a:xfrm>
            <a:off x="5183188" y="98742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a:extLst>
              <a:ext uri="{FF2B5EF4-FFF2-40B4-BE49-F238E27FC236}">
                <a16:creationId xmlns:a16="http://schemas.microsoft.com/office/drawing/2014/main" id="{BE04F34F-7648-446E-A7B0-38E5C6E776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Tree>
    <p:extLst>
      <p:ext uri="{BB962C8B-B14F-4D97-AF65-F5344CB8AC3E}">
        <p14:creationId xmlns:p14="http://schemas.microsoft.com/office/powerpoint/2010/main" val="1160019687"/>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204AD-79A7-402F-8EEE-B02FBC9FD331}"/>
              </a:ext>
            </a:extLst>
          </p:cNvPr>
          <p:cNvSpPr>
            <a:spLocks noGrp="1"/>
          </p:cNvSpPr>
          <p:nvPr>
            <p:ph type="title"/>
          </p:nvPr>
        </p:nvSpPr>
        <p:spPr/>
        <p:txBody>
          <a:bodyPr/>
          <a:lstStyle/>
          <a:p>
            <a:r>
              <a:rPr lang="en-US" smtClean="0"/>
              <a:t>Click to edit Master title style</a:t>
            </a:r>
            <a:endParaRPr lang="en-US"/>
          </a:p>
        </p:txBody>
      </p:sp>
      <p:sp>
        <p:nvSpPr>
          <p:cNvPr id="3" name="Vertical Text Placeholder 2">
            <a:extLst>
              <a:ext uri="{FF2B5EF4-FFF2-40B4-BE49-F238E27FC236}">
                <a16:creationId xmlns:a16="http://schemas.microsoft.com/office/drawing/2014/main" id="{04803460-19E0-4484-94E7-F6FC11B7BE46}"/>
              </a:ext>
            </a:extLst>
          </p:cNvPr>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41041374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C31B88-E265-4340-83AA-4A4071038DB0}"/>
              </a:ext>
            </a:extLst>
          </p:cNvPr>
          <p:cNvSpPr>
            <a:spLocks noGrp="1"/>
          </p:cNvSpPr>
          <p:nvPr>
            <p:ph type="title" orient="vert"/>
          </p:nvPr>
        </p:nvSpPr>
        <p:spPr>
          <a:xfrm>
            <a:off x="8724901" y="365125"/>
            <a:ext cx="2628900" cy="5811838"/>
          </a:xfrm>
        </p:spPr>
        <p:txBody>
          <a:bodyPr vert="eaVert"/>
          <a:lstStyle/>
          <a:p>
            <a:r>
              <a:rPr lang="en-US" smtClean="0"/>
              <a:t>Click to edit Master title style</a:t>
            </a:r>
            <a:endParaRPr lang="en-US"/>
          </a:p>
        </p:txBody>
      </p:sp>
      <p:sp>
        <p:nvSpPr>
          <p:cNvPr id="3" name="Vertical Text Placeholder 2">
            <a:extLst>
              <a:ext uri="{FF2B5EF4-FFF2-40B4-BE49-F238E27FC236}">
                <a16:creationId xmlns:a16="http://schemas.microsoft.com/office/drawing/2014/main" id="{8F55EACB-113E-4697-8009-24D00678C4F0}"/>
              </a:ext>
            </a:extLst>
          </p:cNvPr>
          <p:cNvSpPr>
            <a:spLocks noGrp="1"/>
          </p:cNvSpPr>
          <p:nvPr>
            <p:ph type="body" orient="vert" idx="1"/>
          </p:nvPr>
        </p:nvSpPr>
        <p:spPr>
          <a:xfrm>
            <a:off x="838201"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714055022"/>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968A83F-5F95-4D55-A1CC-AA5FC7562489}"/>
              </a:ext>
            </a:extLst>
          </p:cNvPr>
          <p:cNvSpPr>
            <a:spLocks noGrp="1"/>
          </p:cNvSpPr>
          <p:nvPr>
            <p:ph type="title"/>
          </p:nvPr>
        </p:nvSpPr>
        <p:spPr>
          <a:xfrm>
            <a:off x="838200" y="658906"/>
            <a:ext cx="10515600" cy="739589"/>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a:extLst>
              <a:ext uri="{FF2B5EF4-FFF2-40B4-BE49-F238E27FC236}">
                <a16:creationId xmlns:a16="http://schemas.microsoft.com/office/drawing/2014/main" id="{D7E87BC9-B30A-4D30-A773-EE6A3A5D865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pic>
        <p:nvPicPr>
          <p:cNvPr id="4" name="Picture 3"/>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Rectangle 9"/>
          <p:cNvSpPr/>
          <p:nvPr userDrawn="1"/>
        </p:nvSpPr>
        <p:spPr>
          <a:xfrm>
            <a:off x="108848" y="6351136"/>
            <a:ext cx="4058195" cy="110626"/>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p:cNvSpPr/>
          <p:nvPr userDrawn="1"/>
        </p:nvSpPr>
        <p:spPr>
          <a:xfrm>
            <a:off x="4167043" y="6351136"/>
            <a:ext cx="4201886" cy="110626"/>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p:cNvSpPr/>
          <p:nvPr userDrawn="1"/>
        </p:nvSpPr>
        <p:spPr>
          <a:xfrm>
            <a:off x="8377644" y="6351136"/>
            <a:ext cx="3675018" cy="110626"/>
          </a:xfrm>
          <a:prstGeom prst="rect">
            <a:avLst/>
          </a:prstGeom>
          <a:solidFill>
            <a:srgbClr val="C3482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7624004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hf sldNum="0" hdr="0" ftr="0" dt="0"/>
  <p:txStyles>
    <p:titleStyle>
      <a:lvl1pPr marL="0" algn="l" defTabSz="457200" rtl="0" eaLnBrk="1" latinLnBrk="0" hangingPunct="1">
        <a:lnSpc>
          <a:spcPct val="90000"/>
        </a:lnSpc>
        <a:spcBef>
          <a:spcPct val="0"/>
        </a:spcBef>
        <a:buNone/>
        <a:defRPr lang="en-US" sz="3600" b="1" kern="1200" dirty="0">
          <a:solidFill>
            <a:srgbClr val="FF0000"/>
          </a:solidFill>
          <a:latin typeface="DIN Next LT Pro" panose="020B0503020203050203" pitchFamily="34" charset="0"/>
          <a:ea typeface="+mn-ea"/>
          <a:cs typeface="+mn-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buy.hpe.com/us/en/software/operating-systems/openvms/openvms-operating-systems/hpe-openvms/p/3364735" TargetMode="External"/><Relationship Id="rId2" Type="http://schemas.openxmlformats.org/officeDocument/2006/relationships/hyperlink" Target="http://cis2.oc.ctc.edu/oc_apps/Westlund/xbook/xbook.php?unit=01&amp;proc=page&amp;numb=3" TargetMode="External"/><Relationship Id="rId1" Type="http://schemas.openxmlformats.org/officeDocument/2006/relationships/slideLayout" Target="../slideLayouts/slideLayout2.xml"/><Relationship Id="rId6" Type="http://schemas.openxmlformats.org/officeDocument/2006/relationships/hyperlink" Target="https://www.ibm.com/docs/en/txseries/8.2?topic=overview-what-is-distributed-computing" TargetMode="External"/><Relationship Id="rId5" Type="http://schemas.openxmlformats.org/officeDocument/2006/relationships/hyperlink" Target="https://azure.microsoft.com/en-us/resources/real-time-operating-system/" TargetMode="External"/><Relationship Id="rId4" Type="http://schemas.openxmlformats.org/officeDocument/2006/relationships/hyperlink" Target="https://www.ibm.com/docs/en/zos-basic-skills?topic=today-what-is-mainframe-its-style-computing"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4840" y="1122363"/>
            <a:ext cx="12252960" cy="2387600"/>
          </a:xfrm>
        </p:spPr>
        <p:txBody>
          <a:bodyPr>
            <a:normAutofit fontScale="90000"/>
          </a:bodyPr>
          <a:lstStyle/>
          <a:p>
            <a:r>
              <a:rPr lang="en-US" dirty="0" smtClean="0"/>
              <a:t>CS1101</a:t>
            </a:r>
            <a:br>
              <a:rPr lang="en-US" dirty="0" smtClean="0"/>
            </a:br>
            <a:r>
              <a:rPr lang="en-US" dirty="0" smtClean="0"/>
              <a:t>Introduction </a:t>
            </a:r>
            <a:r>
              <a:rPr lang="en-US" dirty="0"/>
              <a:t>to Computer Programming and Data </a:t>
            </a:r>
            <a:r>
              <a:rPr lang="en-US" dirty="0" smtClean="0"/>
              <a:t>Structures</a:t>
            </a:r>
            <a:endParaRPr lang="en-IN" dirty="0"/>
          </a:p>
        </p:txBody>
      </p:sp>
      <p:sp>
        <p:nvSpPr>
          <p:cNvPr id="3" name="Subtitle 2"/>
          <p:cNvSpPr>
            <a:spLocks noGrp="1"/>
          </p:cNvSpPr>
          <p:nvPr>
            <p:ph type="subTitle" idx="1"/>
          </p:nvPr>
        </p:nvSpPr>
        <p:spPr/>
        <p:txBody>
          <a:bodyPr/>
          <a:lstStyle/>
          <a:p>
            <a:pPr algn="r"/>
            <a:r>
              <a:rPr lang="en-IN" dirty="0" err="1" smtClean="0"/>
              <a:t>Dr.</a:t>
            </a:r>
            <a:r>
              <a:rPr lang="en-IN" dirty="0" smtClean="0"/>
              <a:t> B Ramachandra Reddy</a:t>
            </a:r>
            <a:endParaRPr lang="en-IN" dirty="0"/>
          </a:p>
        </p:txBody>
      </p:sp>
    </p:spTree>
    <p:extLst>
      <p:ext uri="{BB962C8B-B14F-4D97-AF65-F5344CB8AC3E}">
        <p14:creationId xmlns:p14="http://schemas.microsoft.com/office/powerpoint/2010/main" val="203036734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a:t>
            </a:r>
            <a:endParaRPr lang="en-IN" dirty="0"/>
          </a:p>
        </p:txBody>
      </p:sp>
      <p:sp>
        <p:nvSpPr>
          <p:cNvPr id="3" name="Content Placeholder 2"/>
          <p:cNvSpPr>
            <a:spLocks noGrp="1"/>
          </p:cNvSpPr>
          <p:nvPr>
            <p:ph idx="1"/>
          </p:nvPr>
        </p:nvSpPr>
        <p:spPr/>
        <p:txBody>
          <a:bodyPr/>
          <a:lstStyle/>
          <a:p>
            <a:r>
              <a:rPr lang="en-US" dirty="0" smtClean="0"/>
              <a:t>Operating System</a:t>
            </a:r>
          </a:p>
          <a:p>
            <a:endParaRPr lang="en-US" dirty="0"/>
          </a:p>
          <a:p>
            <a:r>
              <a:rPr lang="en-US" dirty="0" smtClean="0"/>
              <a:t>Computer Program</a:t>
            </a:r>
          </a:p>
          <a:p>
            <a:endParaRPr lang="en-US" dirty="0"/>
          </a:p>
          <a:p>
            <a:r>
              <a:rPr lang="en-US" dirty="0" smtClean="0"/>
              <a:t>Program Execution</a:t>
            </a:r>
          </a:p>
          <a:p>
            <a:endParaRPr lang="en-US" dirty="0"/>
          </a:p>
          <a:p>
            <a:pPr lvl="1"/>
            <a:endParaRPr lang="en-IN" dirty="0"/>
          </a:p>
        </p:txBody>
      </p:sp>
    </p:spTree>
    <p:extLst>
      <p:ext uri="{BB962C8B-B14F-4D97-AF65-F5344CB8AC3E}">
        <p14:creationId xmlns:p14="http://schemas.microsoft.com/office/powerpoint/2010/main" val="271145980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Operating </a:t>
            </a:r>
            <a:r>
              <a:rPr lang="en-US" dirty="0" smtClean="0"/>
              <a:t>System</a:t>
            </a:r>
            <a:endParaRPr lang="en-IN" dirty="0"/>
          </a:p>
        </p:txBody>
      </p:sp>
      <p:sp>
        <p:nvSpPr>
          <p:cNvPr id="3" name="Content Placeholder 2"/>
          <p:cNvSpPr>
            <a:spLocks noGrp="1"/>
          </p:cNvSpPr>
          <p:nvPr>
            <p:ph idx="1"/>
          </p:nvPr>
        </p:nvSpPr>
        <p:spPr/>
        <p:txBody>
          <a:bodyPr/>
          <a:lstStyle/>
          <a:p>
            <a:pPr marL="360045" marR="5080" indent="-347980">
              <a:lnSpc>
                <a:spcPct val="100000"/>
              </a:lnSpc>
              <a:spcBef>
                <a:spcPts val="90"/>
              </a:spcBef>
              <a:buClr>
                <a:srgbClr val="FF3300"/>
              </a:buClr>
              <a:buFont typeface="Wingdings"/>
              <a:buChar char=""/>
              <a:tabLst>
                <a:tab pos="360045" algn="l"/>
                <a:tab pos="360680" algn="l"/>
              </a:tabLst>
            </a:pPr>
            <a:r>
              <a:rPr lang="en-US" sz="2000" spc="-10" dirty="0">
                <a:latin typeface="Verdana"/>
                <a:cs typeface="Verdana"/>
              </a:rPr>
              <a:t>An Operating System (OS) is an interface between a computer user and computer hardware</a:t>
            </a:r>
            <a:r>
              <a:rPr lang="en-US" sz="2000" spc="-10" dirty="0" smtClean="0">
                <a:latin typeface="Verdana"/>
                <a:cs typeface="Verdana"/>
              </a:rPr>
              <a:t>.</a:t>
            </a:r>
          </a:p>
          <a:p>
            <a:pPr marL="360045" marR="5080" indent="-347980">
              <a:lnSpc>
                <a:spcPct val="100000"/>
              </a:lnSpc>
              <a:spcBef>
                <a:spcPts val="90"/>
              </a:spcBef>
              <a:buClr>
                <a:srgbClr val="FF3300"/>
              </a:buClr>
              <a:buFont typeface="Wingdings"/>
              <a:buChar char=""/>
              <a:tabLst>
                <a:tab pos="360045" algn="l"/>
                <a:tab pos="360680" algn="l"/>
              </a:tabLst>
            </a:pPr>
            <a:endParaRPr lang="en-US" sz="2000" spc="-10" dirty="0">
              <a:latin typeface="Verdana"/>
              <a:cs typeface="Verdana"/>
            </a:endParaRPr>
          </a:p>
          <a:p>
            <a:pPr marL="360045" marR="5080" indent="-347980">
              <a:lnSpc>
                <a:spcPct val="100000"/>
              </a:lnSpc>
              <a:spcBef>
                <a:spcPts val="90"/>
              </a:spcBef>
              <a:buClr>
                <a:srgbClr val="FF3300"/>
              </a:buClr>
              <a:buFont typeface="Wingdings"/>
              <a:buChar char=""/>
              <a:tabLst>
                <a:tab pos="360045" algn="l"/>
                <a:tab pos="360680" algn="l"/>
              </a:tabLst>
            </a:pPr>
            <a:r>
              <a:rPr lang="en-US" sz="2000" spc="-10" dirty="0" smtClean="0">
                <a:latin typeface="Verdana"/>
                <a:cs typeface="Verdana"/>
              </a:rPr>
              <a:t>Integrated </a:t>
            </a:r>
            <a:r>
              <a:rPr lang="en-US" sz="2000" spc="-5" dirty="0">
                <a:latin typeface="Verdana"/>
                <a:cs typeface="Verdana"/>
              </a:rPr>
              <a:t>set </a:t>
            </a:r>
            <a:r>
              <a:rPr lang="en-US" sz="2000" spc="-10" dirty="0">
                <a:latin typeface="Verdana"/>
                <a:cs typeface="Verdana"/>
              </a:rPr>
              <a:t>of </a:t>
            </a:r>
            <a:r>
              <a:rPr lang="en-US" sz="2000" dirty="0">
                <a:latin typeface="Verdana"/>
                <a:cs typeface="Verdana"/>
              </a:rPr>
              <a:t>programs </a:t>
            </a:r>
            <a:r>
              <a:rPr lang="en-US" sz="2000" spc="-5" dirty="0">
                <a:latin typeface="Verdana"/>
                <a:cs typeface="Verdana"/>
              </a:rPr>
              <a:t>that controls the </a:t>
            </a:r>
            <a:r>
              <a:rPr lang="en-US" sz="2000" spc="-10" dirty="0">
                <a:latin typeface="Verdana"/>
                <a:cs typeface="Verdana"/>
              </a:rPr>
              <a:t>resources  </a:t>
            </a:r>
            <a:r>
              <a:rPr lang="en-US" sz="2000" spc="-5" dirty="0">
                <a:latin typeface="Verdana"/>
                <a:cs typeface="Verdana"/>
              </a:rPr>
              <a:t>(the CPU, memory, I/O </a:t>
            </a:r>
            <a:r>
              <a:rPr lang="en-US" sz="2000" spc="-10" dirty="0">
                <a:latin typeface="Verdana"/>
                <a:cs typeface="Verdana"/>
              </a:rPr>
              <a:t>devices, etc.) of </a:t>
            </a:r>
            <a:r>
              <a:rPr lang="en-US" sz="2000" spc="-5" dirty="0">
                <a:latin typeface="Verdana"/>
                <a:cs typeface="Verdana"/>
              </a:rPr>
              <a:t>a computer  </a:t>
            </a:r>
            <a:r>
              <a:rPr lang="en-US" sz="2000" spc="-15" dirty="0" smtClean="0">
                <a:latin typeface="Verdana"/>
                <a:cs typeface="Verdana"/>
              </a:rPr>
              <a:t>system</a:t>
            </a:r>
          </a:p>
          <a:p>
            <a:pPr marL="360045" marR="5080" indent="-347980">
              <a:lnSpc>
                <a:spcPct val="100000"/>
              </a:lnSpc>
              <a:spcBef>
                <a:spcPts val="90"/>
              </a:spcBef>
              <a:buClr>
                <a:srgbClr val="FF3300"/>
              </a:buClr>
              <a:buFont typeface="Wingdings"/>
              <a:buChar char=""/>
              <a:tabLst>
                <a:tab pos="360045" algn="l"/>
                <a:tab pos="360680" algn="l"/>
              </a:tabLst>
            </a:pPr>
            <a:endParaRPr lang="en-US" sz="2000" dirty="0">
              <a:latin typeface="Verdana"/>
              <a:cs typeface="Verdana"/>
            </a:endParaRPr>
          </a:p>
          <a:p>
            <a:pPr marL="360045" indent="-347980">
              <a:lnSpc>
                <a:spcPct val="100000"/>
              </a:lnSpc>
              <a:spcBef>
                <a:spcPts val="960"/>
              </a:spcBef>
              <a:buClr>
                <a:srgbClr val="FF3300"/>
              </a:buClr>
              <a:buFont typeface="Wingdings"/>
              <a:buChar char=""/>
              <a:tabLst>
                <a:tab pos="360045" algn="l"/>
                <a:tab pos="360680" algn="l"/>
              </a:tabLst>
            </a:pPr>
            <a:r>
              <a:rPr lang="en-US" sz="2000" spc="-10" dirty="0" smtClean="0">
                <a:latin typeface="Verdana"/>
                <a:cs typeface="Verdana"/>
              </a:rPr>
              <a:t>Two </a:t>
            </a:r>
            <a:r>
              <a:rPr lang="en-US" sz="2000" spc="-5" dirty="0">
                <a:latin typeface="Verdana"/>
                <a:cs typeface="Verdana"/>
              </a:rPr>
              <a:t>primary objectives </a:t>
            </a:r>
            <a:r>
              <a:rPr lang="en-US" sz="2000" spc="-10" dirty="0">
                <a:latin typeface="Verdana"/>
                <a:cs typeface="Verdana"/>
              </a:rPr>
              <a:t>of </a:t>
            </a:r>
            <a:r>
              <a:rPr lang="en-US" sz="2000" spc="-5" dirty="0">
                <a:latin typeface="Verdana"/>
                <a:cs typeface="Verdana"/>
              </a:rPr>
              <a:t>an </a:t>
            </a:r>
            <a:r>
              <a:rPr lang="en-US" sz="2000" spc="-15" dirty="0">
                <a:latin typeface="Verdana"/>
                <a:cs typeface="Verdana"/>
              </a:rPr>
              <a:t>OS</a:t>
            </a:r>
            <a:r>
              <a:rPr lang="en-US" sz="2000" spc="20" dirty="0">
                <a:latin typeface="Verdana"/>
                <a:cs typeface="Verdana"/>
              </a:rPr>
              <a:t> </a:t>
            </a:r>
            <a:r>
              <a:rPr lang="en-US" sz="2000" spc="-10" dirty="0">
                <a:latin typeface="Verdana"/>
                <a:cs typeface="Verdana"/>
              </a:rPr>
              <a:t>are:</a:t>
            </a:r>
            <a:endParaRPr lang="en-US" sz="2000" dirty="0">
              <a:latin typeface="Verdana"/>
              <a:cs typeface="Verdana"/>
            </a:endParaRPr>
          </a:p>
          <a:p>
            <a:pPr marL="920750" lvl="1" indent="-329565">
              <a:lnSpc>
                <a:spcPct val="100000"/>
              </a:lnSpc>
              <a:spcBef>
                <a:spcPts val="960"/>
              </a:spcBef>
              <a:buClr>
                <a:srgbClr val="FF3300"/>
              </a:buClr>
              <a:buFont typeface="Wingdings"/>
              <a:buChar char=""/>
              <a:tabLst>
                <a:tab pos="920750" algn="l"/>
                <a:tab pos="921385" algn="l"/>
              </a:tabLst>
            </a:pPr>
            <a:r>
              <a:rPr lang="en-US" sz="2000" dirty="0">
                <a:latin typeface="Verdana"/>
                <a:cs typeface="Verdana"/>
              </a:rPr>
              <a:t>Making </a:t>
            </a:r>
            <a:r>
              <a:rPr lang="en-US" sz="2000" spc="-5" dirty="0">
                <a:latin typeface="Verdana"/>
                <a:cs typeface="Verdana"/>
              </a:rPr>
              <a:t>a </a:t>
            </a:r>
            <a:r>
              <a:rPr lang="en-US" sz="2000" spc="-10" dirty="0">
                <a:latin typeface="Verdana"/>
                <a:cs typeface="Verdana"/>
              </a:rPr>
              <a:t>computer system </a:t>
            </a:r>
            <a:r>
              <a:rPr lang="en-US" sz="2000" spc="-5" dirty="0">
                <a:latin typeface="Verdana"/>
                <a:cs typeface="Verdana"/>
              </a:rPr>
              <a:t>convenient to</a:t>
            </a:r>
            <a:r>
              <a:rPr lang="en-US" sz="2000" spc="5" dirty="0">
                <a:latin typeface="Verdana"/>
                <a:cs typeface="Verdana"/>
              </a:rPr>
              <a:t> </a:t>
            </a:r>
            <a:r>
              <a:rPr lang="en-US" sz="2000" spc="-10" dirty="0">
                <a:latin typeface="Verdana"/>
                <a:cs typeface="Verdana"/>
              </a:rPr>
              <a:t>use</a:t>
            </a:r>
            <a:endParaRPr lang="en-US" sz="2000" dirty="0">
              <a:latin typeface="Verdana"/>
              <a:cs typeface="Verdana"/>
            </a:endParaRPr>
          </a:p>
          <a:p>
            <a:pPr marL="920750" lvl="1" indent="-329565">
              <a:lnSpc>
                <a:spcPct val="100000"/>
              </a:lnSpc>
              <a:spcBef>
                <a:spcPts val="985"/>
              </a:spcBef>
              <a:buClr>
                <a:srgbClr val="FF3300"/>
              </a:buClr>
              <a:buFont typeface="Wingdings"/>
              <a:buChar char=""/>
              <a:tabLst>
                <a:tab pos="920750" algn="l"/>
                <a:tab pos="921385" algn="l"/>
              </a:tabLst>
            </a:pPr>
            <a:r>
              <a:rPr lang="en-US" sz="2000" dirty="0">
                <a:latin typeface="Verdana"/>
                <a:cs typeface="Verdana"/>
              </a:rPr>
              <a:t>Managing </a:t>
            </a:r>
            <a:r>
              <a:rPr lang="en-US" sz="2000" spc="-10" dirty="0">
                <a:latin typeface="Verdana"/>
                <a:cs typeface="Verdana"/>
              </a:rPr>
              <a:t>the </a:t>
            </a:r>
            <a:r>
              <a:rPr lang="en-US" sz="2000" spc="-15" dirty="0">
                <a:latin typeface="Verdana"/>
                <a:cs typeface="Verdana"/>
              </a:rPr>
              <a:t>resources </a:t>
            </a:r>
            <a:r>
              <a:rPr lang="en-US" sz="2000" spc="-10" dirty="0">
                <a:latin typeface="Verdana"/>
                <a:cs typeface="Verdana"/>
              </a:rPr>
              <a:t>of </a:t>
            </a:r>
            <a:r>
              <a:rPr lang="en-US" sz="2000" spc="-5" dirty="0">
                <a:latin typeface="Verdana"/>
                <a:cs typeface="Verdana"/>
              </a:rPr>
              <a:t>a </a:t>
            </a:r>
            <a:r>
              <a:rPr lang="en-US" sz="2000" dirty="0">
                <a:latin typeface="Verdana"/>
                <a:cs typeface="Verdana"/>
              </a:rPr>
              <a:t>computer</a:t>
            </a:r>
            <a:r>
              <a:rPr lang="en-US" sz="2000" spc="-35" dirty="0">
                <a:latin typeface="Verdana"/>
                <a:cs typeface="Verdana"/>
              </a:rPr>
              <a:t> </a:t>
            </a:r>
            <a:r>
              <a:rPr lang="en-US" sz="2000" spc="-10" dirty="0">
                <a:latin typeface="Verdana"/>
                <a:cs typeface="Verdana"/>
              </a:rPr>
              <a:t>system</a:t>
            </a:r>
            <a:endParaRPr lang="en-US" sz="2000" dirty="0">
              <a:latin typeface="Verdana"/>
              <a:cs typeface="Verdana"/>
            </a:endParaRPr>
          </a:p>
          <a:p>
            <a:endParaRPr lang="en-IN" dirty="0"/>
          </a:p>
        </p:txBody>
      </p:sp>
    </p:spTree>
    <p:extLst>
      <p:ext uri="{BB962C8B-B14F-4D97-AF65-F5344CB8AC3E}">
        <p14:creationId xmlns:p14="http://schemas.microsoft.com/office/powerpoint/2010/main" val="103800701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Features of </a:t>
            </a:r>
            <a:r>
              <a:rPr lang="en-IN" dirty="0" smtClean="0"/>
              <a:t>OS</a:t>
            </a:r>
            <a:endParaRPr lang="en-IN" dirty="0"/>
          </a:p>
        </p:txBody>
      </p:sp>
      <p:sp>
        <p:nvSpPr>
          <p:cNvPr id="3" name="Content Placeholder 2"/>
          <p:cNvSpPr>
            <a:spLocks noGrp="1"/>
          </p:cNvSpPr>
          <p:nvPr>
            <p:ph idx="1"/>
          </p:nvPr>
        </p:nvSpPr>
        <p:spPr/>
        <p:txBody>
          <a:bodyPr/>
          <a:lstStyle/>
          <a:p>
            <a:pPr algn="just" fontAlgn="base"/>
            <a:r>
              <a:rPr lang="en-US" b="1" dirty="0"/>
              <a:t>Convenience:</a:t>
            </a:r>
            <a:r>
              <a:rPr lang="en-US" dirty="0"/>
              <a:t> An OS makes a computer more convenient to use.</a:t>
            </a:r>
          </a:p>
          <a:p>
            <a:pPr algn="just" fontAlgn="base"/>
            <a:r>
              <a:rPr lang="en-US" b="1" dirty="0"/>
              <a:t>Efficiency:</a:t>
            </a:r>
            <a:r>
              <a:rPr lang="en-US" dirty="0"/>
              <a:t> An OS allows the computer system resources to be used efficiently.</a:t>
            </a:r>
          </a:p>
          <a:p>
            <a:pPr algn="just" fontAlgn="base"/>
            <a:r>
              <a:rPr lang="en-US" b="1" dirty="0"/>
              <a:t>Ability to Evolve:</a:t>
            </a:r>
            <a:r>
              <a:rPr lang="en-US" dirty="0"/>
              <a:t> An OS should be constructed in such a way as to permit the effective development, testing, and introduction of new system functions at the same time without interfering with service.</a:t>
            </a:r>
          </a:p>
          <a:p>
            <a:pPr algn="just" fontAlgn="base"/>
            <a:r>
              <a:rPr lang="en-US" b="1" dirty="0"/>
              <a:t>Throughput:</a:t>
            </a:r>
            <a:r>
              <a:rPr lang="en-US" dirty="0"/>
              <a:t> An OS should be constructed so that It can give maximum </a:t>
            </a:r>
            <a:r>
              <a:rPr lang="en-US" b="1" dirty="0"/>
              <a:t>throughput</a:t>
            </a:r>
            <a:r>
              <a:rPr lang="en-US" dirty="0"/>
              <a:t>(Number of tasks per unit time).</a:t>
            </a:r>
          </a:p>
          <a:p>
            <a:pPr algn="just"/>
            <a:endParaRPr lang="en-IN" dirty="0"/>
          </a:p>
        </p:txBody>
      </p:sp>
    </p:spTree>
    <p:extLst>
      <p:ext uri="{BB962C8B-B14F-4D97-AF65-F5344CB8AC3E}">
        <p14:creationId xmlns:p14="http://schemas.microsoft.com/office/powerpoint/2010/main" val="1588789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ircle(in)">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ircle(in)">
                                      <p:cBhvr>
                                        <p:cTn id="22"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Logical </a:t>
            </a:r>
            <a:r>
              <a:rPr lang="en-US" dirty="0"/>
              <a:t>Architecture of a Computer System</a:t>
            </a:r>
            <a:endParaRPr lang="en-IN" dirty="0"/>
          </a:p>
        </p:txBody>
      </p:sp>
      <p:sp>
        <p:nvSpPr>
          <p:cNvPr id="4" name="object 6"/>
          <p:cNvSpPr txBox="1"/>
          <p:nvPr/>
        </p:nvSpPr>
        <p:spPr>
          <a:xfrm>
            <a:off x="5874715" y="3989323"/>
            <a:ext cx="5998838" cy="1883849"/>
          </a:xfrm>
          <a:prstGeom prst="rect">
            <a:avLst/>
          </a:prstGeom>
        </p:spPr>
        <p:txBody>
          <a:bodyPr vert="horz" wrap="square" lIns="0" tIns="11430" rIns="0" bIns="0" rtlCol="0">
            <a:spAutoFit/>
          </a:bodyPr>
          <a:lstStyle/>
          <a:p>
            <a:pPr marL="12700" marR="5080">
              <a:spcBef>
                <a:spcPts val="90"/>
              </a:spcBef>
              <a:tabLst>
                <a:tab pos="820419" algn="l"/>
                <a:tab pos="2378075" algn="l"/>
              </a:tabLst>
            </a:pPr>
            <a:r>
              <a:rPr sz="2000" spc="-10" dirty="0">
                <a:solidFill>
                  <a:srgbClr val="333333"/>
                </a:solidFill>
                <a:latin typeface="Verdana"/>
                <a:cs typeface="Verdana"/>
              </a:rPr>
              <a:t>T</a:t>
            </a:r>
            <a:r>
              <a:rPr sz="2000" dirty="0">
                <a:solidFill>
                  <a:srgbClr val="333333"/>
                </a:solidFill>
                <a:latin typeface="Verdana"/>
                <a:cs typeface="Verdana"/>
              </a:rPr>
              <a:t>h</a:t>
            </a:r>
            <a:r>
              <a:rPr sz="2000" spc="-5" dirty="0">
                <a:solidFill>
                  <a:srgbClr val="333333"/>
                </a:solidFill>
                <a:latin typeface="Verdana"/>
                <a:cs typeface="Verdana"/>
              </a:rPr>
              <a:t>e</a:t>
            </a:r>
            <a:r>
              <a:rPr sz="2000" dirty="0">
                <a:solidFill>
                  <a:srgbClr val="333333"/>
                </a:solidFill>
                <a:latin typeface="Verdana"/>
                <a:cs typeface="Verdana"/>
              </a:rPr>
              <a:t>	</a:t>
            </a:r>
            <a:r>
              <a:rPr sz="2000" spc="-15" dirty="0">
                <a:solidFill>
                  <a:srgbClr val="333333"/>
                </a:solidFill>
                <a:latin typeface="Verdana"/>
                <a:cs typeface="Verdana"/>
              </a:rPr>
              <a:t>o</a:t>
            </a:r>
            <a:r>
              <a:rPr sz="2000" spc="25" dirty="0">
                <a:solidFill>
                  <a:srgbClr val="333333"/>
                </a:solidFill>
                <a:latin typeface="Verdana"/>
                <a:cs typeface="Verdana"/>
              </a:rPr>
              <a:t>p</a:t>
            </a:r>
            <a:r>
              <a:rPr sz="2000" spc="-20" dirty="0">
                <a:solidFill>
                  <a:srgbClr val="333333"/>
                </a:solidFill>
                <a:latin typeface="Verdana"/>
                <a:cs typeface="Verdana"/>
              </a:rPr>
              <a:t>er</a:t>
            </a:r>
            <a:r>
              <a:rPr sz="2000" spc="-5" dirty="0">
                <a:solidFill>
                  <a:srgbClr val="333333"/>
                </a:solidFill>
                <a:latin typeface="Verdana"/>
                <a:cs typeface="Verdana"/>
              </a:rPr>
              <a:t>a</a:t>
            </a:r>
            <a:r>
              <a:rPr sz="2000" dirty="0">
                <a:solidFill>
                  <a:srgbClr val="333333"/>
                </a:solidFill>
                <a:latin typeface="Verdana"/>
                <a:cs typeface="Verdana"/>
              </a:rPr>
              <a:t>t</a:t>
            </a:r>
            <a:r>
              <a:rPr sz="2000" spc="25" dirty="0">
                <a:solidFill>
                  <a:srgbClr val="333333"/>
                </a:solidFill>
                <a:latin typeface="Verdana"/>
                <a:cs typeface="Verdana"/>
              </a:rPr>
              <a:t>i</a:t>
            </a:r>
            <a:r>
              <a:rPr sz="2000" dirty="0">
                <a:solidFill>
                  <a:srgbClr val="333333"/>
                </a:solidFill>
                <a:latin typeface="Verdana"/>
                <a:cs typeface="Verdana"/>
              </a:rPr>
              <a:t>n</a:t>
            </a:r>
            <a:r>
              <a:rPr sz="2000" spc="-5" dirty="0">
                <a:solidFill>
                  <a:srgbClr val="333333"/>
                </a:solidFill>
                <a:latin typeface="Verdana"/>
                <a:cs typeface="Verdana"/>
              </a:rPr>
              <a:t>g</a:t>
            </a:r>
            <a:r>
              <a:rPr sz="2000" dirty="0">
                <a:solidFill>
                  <a:srgbClr val="333333"/>
                </a:solidFill>
                <a:latin typeface="Verdana"/>
                <a:cs typeface="Verdana"/>
              </a:rPr>
              <a:t>	</a:t>
            </a:r>
            <a:r>
              <a:rPr sz="2000" spc="-15" dirty="0">
                <a:solidFill>
                  <a:srgbClr val="333333"/>
                </a:solidFill>
                <a:latin typeface="Verdana"/>
                <a:cs typeface="Verdana"/>
              </a:rPr>
              <a:t>s</a:t>
            </a:r>
            <a:r>
              <a:rPr sz="2000" spc="-5" dirty="0">
                <a:solidFill>
                  <a:srgbClr val="333333"/>
                </a:solidFill>
                <a:latin typeface="Verdana"/>
                <a:cs typeface="Verdana"/>
              </a:rPr>
              <a:t>y</a:t>
            </a:r>
            <a:r>
              <a:rPr sz="2000" spc="-15" dirty="0">
                <a:solidFill>
                  <a:srgbClr val="333333"/>
                </a:solidFill>
                <a:latin typeface="Verdana"/>
                <a:cs typeface="Verdana"/>
              </a:rPr>
              <a:t>s</a:t>
            </a:r>
            <a:r>
              <a:rPr sz="2000" dirty="0">
                <a:solidFill>
                  <a:srgbClr val="333333"/>
                </a:solidFill>
                <a:latin typeface="Verdana"/>
                <a:cs typeface="Verdana"/>
              </a:rPr>
              <a:t>t</a:t>
            </a:r>
            <a:r>
              <a:rPr sz="2000" spc="5" dirty="0">
                <a:solidFill>
                  <a:srgbClr val="333333"/>
                </a:solidFill>
                <a:latin typeface="Verdana"/>
                <a:cs typeface="Verdana"/>
              </a:rPr>
              <a:t>e</a:t>
            </a:r>
            <a:r>
              <a:rPr sz="2000" spc="-5" dirty="0">
                <a:solidFill>
                  <a:srgbClr val="333333"/>
                </a:solidFill>
                <a:latin typeface="Verdana"/>
                <a:cs typeface="Verdana"/>
              </a:rPr>
              <a:t>m  layer </a:t>
            </a:r>
            <a:r>
              <a:rPr sz="2000" dirty="0">
                <a:solidFill>
                  <a:srgbClr val="333333"/>
                </a:solidFill>
                <a:latin typeface="Verdana"/>
                <a:cs typeface="Verdana"/>
              </a:rPr>
              <a:t>hides </a:t>
            </a:r>
            <a:r>
              <a:rPr sz="2000" spc="-5" dirty="0">
                <a:solidFill>
                  <a:srgbClr val="333333"/>
                </a:solidFill>
                <a:latin typeface="Verdana"/>
                <a:cs typeface="Verdana"/>
              </a:rPr>
              <a:t>the </a:t>
            </a:r>
            <a:r>
              <a:rPr sz="2000" dirty="0">
                <a:solidFill>
                  <a:srgbClr val="333333"/>
                </a:solidFill>
                <a:latin typeface="Verdana"/>
                <a:cs typeface="Verdana"/>
              </a:rPr>
              <a:t>details</a:t>
            </a:r>
            <a:r>
              <a:rPr sz="2000" spc="195" dirty="0">
                <a:solidFill>
                  <a:srgbClr val="333333"/>
                </a:solidFill>
                <a:latin typeface="Verdana"/>
                <a:cs typeface="Verdana"/>
              </a:rPr>
              <a:t> </a:t>
            </a:r>
            <a:r>
              <a:rPr sz="2000" spc="-10" dirty="0" smtClean="0">
                <a:solidFill>
                  <a:srgbClr val="333333"/>
                </a:solidFill>
                <a:latin typeface="Verdana"/>
                <a:cs typeface="Verdana"/>
              </a:rPr>
              <a:t>of</a:t>
            </a:r>
            <a:r>
              <a:rPr lang="en-IN" sz="2000" spc="-10" dirty="0" smtClean="0">
                <a:solidFill>
                  <a:srgbClr val="333333"/>
                </a:solidFill>
                <a:latin typeface="Verdana"/>
                <a:cs typeface="Verdana"/>
              </a:rPr>
              <a:t> </a:t>
            </a:r>
            <a:r>
              <a:rPr lang="en-US" sz="2000" spc="-5" dirty="0">
                <a:solidFill>
                  <a:srgbClr val="333333"/>
                </a:solidFill>
                <a:latin typeface="Verdana"/>
                <a:cs typeface="Verdana"/>
              </a:rPr>
              <a:t>the </a:t>
            </a:r>
            <a:r>
              <a:rPr lang="en-US" sz="2000" spc="-10" dirty="0">
                <a:solidFill>
                  <a:srgbClr val="333333"/>
                </a:solidFill>
                <a:latin typeface="Verdana"/>
                <a:cs typeface="Verdana"/>
              </a:rPr>
              <a:t>hardware from </a:t>
            </a:r>
            <a:r>
              <a:rPr lang="en-US" sz="2000" spc="5" dirty="0">
                <a:solidFill>
                  <a:srgbClr val="333333"/>
                </a:solidFill>
                <a:latin typeface="Verdana"/>
                <a:cs typeface="Verdana"/>
              </a:rPr>
              <a:t>the  </a:t>
            </a:r>
            <a:r>
              <a:rPr lang="en-US" sz="2000" dirty="0" smtClean="0">
                <a:solidFill>
                  <a:srgbClr val="333333"/>
                </a:solidFill>
                <a:latin typeface="Verdana"/>
                <a:cs typeface="Verdana"/>
              </a:rPr>
              <a:t>p</a:t>
            </a:r>
            <a:r>
              <a:rPr lang="en-US" sz="2000" spc="-20" dirty="0" smtClean="0">
                <a:solidFill>
                  <a:srgbClr val="333333"/>
                </a:solidFill>
                <a:latin typeface="Verdana"/>
                <a:cs typeface="Verdana"/>
              </a:rPr>
              <a:t>ro</a:t>
            </a:r>
            <a:r>
              <a:rPr lang="en-US" sz="2000" spc="25" dirty="0" smtClean="0">
                <a:solidFill>
                  <a:srgbClr val="333333"/>
                </a:solidFill>
                <a:latin typeface="Verdana"/>
                <a:cs typeface="Verdana"/>
              </a:rPr>
              <a:t>g</a:t>
            </a:r>
            <a:r>
              <a:rPr lang="en-US" sz="2000" spc="-20" dirty="0" smtClean="0">
                <a:solidFill>
                  <a:srgbClr val="333333"/>
                </a:solidFill>
                <a:latin typeface="Verdana"/>
                <a:cs typeface="Verdana"/>
              </a:rPr>
              <a:t>r</a:t>
            </a:r>
            <a:r>
              <a:rPr lang="en-US" sz="2000" spc="-5" dirty="0" smtClean="0">
                <a:solidFill>
                  <a:srgbClr val="333333"/>
                </a:solidFill>
                <a:latin typeface="Verdana"/>
                <a:cs typeface="Verdana"/>
              </a:rPr>
              <a:t>am</a:t>
            </a:r>
            <a:r>
              <a:rPr lang="en-US" sz="2000" spc="20" dirty="0" smtClean="0">
                <a:solidFill>
                  <a:srgbClr val="333333"/>
                </a:solidFill>
                <a:latin typeface="Verdana"/>
                <a:cs typeface="Verdana"/>
              </a:rPr>
              <a:t>m</a:t>
            </a:r>
            <a:r>
              <a:rPr lang="en-US" sz="2000" spc="-20" dirty="0" smtClean="0">
                <a:solidFill>
                  <a:srgbClr val="333333"/>
                </a:solidFill>
                <a:latin typeface="Verdana"/>
                <a:cs typeface="Verdana"/>
              </a:rPr>
              <a:t>e</a:t>
            </a:r>
            <a:r>
              <a:rPr lang="en-US" sz="2000" spc="-5" dirty="0" smtClean="0">
                <a:solidFill>
                  <a:srgbClr val="333333"/>
                </a:solidFill>
                <a:latin typeface="Verdana"/>
                <a:cs typeface="Verdana"/>
              </a:rPr>
              <a:t>r a</a:t>
            </a:r>
            <a:r>
              <a:rPr lang="en-US" sz="2000" spc="25" dirty="0" smtClean="0">
                <a:solidFill>
                  <a:srgbClr val="333333"/>
                </a:solidFill>
                <a:latin typeface="Verdana"/>
                <a:cs typeface="Verdana"/>
              </a:rPr>
              <a:t>n</a:t>
            </a:r>
            <a:r>
              <a:rPr lang="en-US" sz="2000" spc="-5" dirty="0" smtClean="0">
                <a:solidFill>
                  <a:srgbClr val="333333"/>
                </a:solidFill>
                <a:latin typeface="Verdana"/>
                <a:cs typeface="Verdana"/>
              </a:rPr>
              <a:t>d  </a:t>
            </a:r>
            <a:r>
              <a:rPr lang="en-US" sz="2000" spc="-5" dirty="0">
                <a:solidFill>
                  <a:srgbClr val="333333"/>
                </a:solidFill>
                <a:latin typeface="Verdana"/>
                <a:cs typeface="Verdana"/>
              </a:rPr>
              <a:t>provides the</a:t>
            </a:r>
            <a:r>
              <a:rPr lang="en-US" sz="2000" spc="10" dirty="0">
                <a:solidFill>
                  <a:srgbClr val="333333"/>
                </a:solidFill>
                <a:latin typeface="Verdana"/>
                <a:cs typeface="Verdana"/>
              </a:rPr>
              <a:t> </a:t>
            </a:r>
            <a:r>
              <a:rPr lang="en-US" sz="2000" spc="-5" dirty="0" smtClean="0">
                <a:solidFill>
                  <a:srgbClr val="333333"/>
                </a:solidFill>
                <a:latin typeface="Verdana"/>
                <a:cs typeface="Verdana"/>
              </a:rPr>
              <a:t>programmer </a:t>
            </a:r>
            <a:r>
              <a:rPr lang="en-US" sz="2000" dirty="0">
                <a:solidFill>
                  <a:srgbClr val="333333"/>
                </a:solidFill>
                <a:latin typeface="Verdana"/>
                <a:cs typeface="Verdana"/>
              </a:rPr>
              <a:t>with </a:t>
            </a:r>
            <a:r>
              <a:rPr lang="en-US" sz="2000" spc="-5" dirty="0">
                <a:solidFill>
                  <a:srgbClr val="333333"/>
                </a:solidFill>
                <a:latin typeface="Verdana"/>
                <a:cs typeface="Verdana"/>
              </a:rPr>
              <a:t>convenient </a:t>
            </a:r>
            <a:r>
              <a:rPr lang="en-US" sz="2000" spc="-10" dirty="0">
                <a:solidFill>
                  <a:srgbClr val="333333"/>
                </a:solidFill>
                <a:latin typeface="Verdana"/>
                <a:cs typeface="Verdana"/>
              </a:rPr>
              <a:t>interface  for </a:t>
            </a:r>
            <a:r>
              <a:rPr lang="en-US" sz="2000" dirty="0">
                <a:solidFill>
                  <a:srgbClr val="333333"/>
                </a:solidFill>
                <a:latin typeface="Verdana"/>
                <a:cs typeface="Verdana"/>
              </a:rPr>
              <a:t>using </a:t>
            </a:r>
            <a:r>
              <a:rPr lang="en-US" sz="2000" spc="-5" dirty="0">
                <a:solidFill>
                  <a:srgbClr val="333333"/>
                </a:solidFill>
                <a:latin typeface="Verdana"/>
                <a:cs typeface="Verdana"/>
              </a:rPr>
              <a:t>the</a:t>
            </a:r>
            <a:r>
              <a:rPr lang="en-US" sz="2000" spc="-45" dirty="0">
                <a:solidFill>
                  <a:srgbClr val="333333"/>
                </a:solidFill>
                <a:latin typeface="Verdana"/>
                <a:cs typeface="Verdana"/>
              </a:rPr>
              <a:t> </a:t>
            </a:r>
            <a:r>
              <a:rPr lang="en-US" sz="2000" spc="-15" dirty="0">
                <a:solidFill>
                  <a:srgbClr val="333333"/>
                </a:solidFill>
                <a:latin typeface="Verdana"/>
                <a:cs typeface="Verdana"/>
              </a:rPr>
              <a:t>system</a:t>
            </a:r>
            <a:endParaRPr lang="en-US" sz="2000" dirty="0">
              <a:latin typeface="Verdana"/>
              <a:cs typeface="Verdana"/>
            </a:endParaRPr>
          </a:p>
          <a:p>
            <a:pPr marL="12700" marR="5080">
              <a:spcBef>
                <a:spcPts val="90"/>
              </a:spcBef>
              <a:tabLst>
                <a:tab pos="820419" algn="l"/>
                <a:tab pos="2378075" algn="l"/>
              </a:tabLst>
            </a:pPr>
            <a:endParaRPr lang="en-US" sz="2000" dirty="0">
              <a:latin typeface="Verdana"/>
              <a:cs typeface="Verdana"/>
            </a:endParaRPr>
          </a:p>
          <a:p>
            <a:pPr marL="12700" marR="5080">
              <a:lnSpc>
                <a:spcPct val="100000"/>
              </a:lnSpc>
              <a:spcBef>
                <a:spcPts val="90"/>
              </a:spcBef>
              <a:tabLst>
                <a:tab pos="820419" algn="l"/>
                <a:tab pos="2378075" algn="l"/>
              </a:tabLst>
            </a:pPr>
            <a:endParaRPr sz="2000" dirty="0">
              <a:latin typeface="Verdana"/>
              <a:cs typeface="Verdana"/>
            </a:endParaRPr>
          </a:p>
        </p:txBody>
      </p:sp>
      <p:pic>
        <p:nvPicPr>
          <p:cNvPr id="10" name="Picture 9"/>
          <p:cNvPicPr>
            <a:picLocks noChangeAspect="1"/>
          </p:cNvPicPr>
          <p:nvPr/>
        </p:nvPicPr>
        <p:blipFill rotWithShape="1">
          <a:blip r:embed="rId2"/>
          <a:srcRect t="2379" b="2379"/>
          <a:stretch/>
        </p:blipFill>
        <p:spPr>
          <a:xfrm>
            <a:off x="1477084" y="1765262"/>
            <a:ext cx="3600164" cy="4107910"/>
          </a:xfrm>
          <a:prstGeom prst="rect">
            <a:avLst/>
          </a:prstGeom>
        </p:spPr>
      </p:pic>
    </p:spTree>
    <p:extLst>
      <p:ext uri="{BB962C8B-B14F-4D97-AF65-F5344CB8AC3E}">
        <p14:creationId xmlns:p14="http://schemas.microsoft.com/office/powerpoint/2010/main" val="331926246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565827"/>
            <a:ext cx="3932237" cy="891071"/>
          </a:xfrm>
        </p:spPr>
        <p:txBody>
          <a:bodyPr/>
          <a:lstStyle/>
          <a:p>
            <a:r>
              <a:rPr lang="en-US" dirty="0"/>
              <a:t>Kernel</a:t>
            </a:r>
            <a:endParaRPr lang="en-IN" dirty="0"/>
          </a:p>
        </p:txBody>
      </p:sp>
      <p:sp>
        <p:nvSpPr>
          <p:cNvPr id="4" name="Text Placeholder 3"/>
          <p:cNvSpPr>
            <a:spLocks noGrp="1"/>
          </p:cNvSpPr>
          <p:nvPr>
            <p:ph type="body" sz="half" idx="2"/>
          </p:nvPr>
        </p:nvSpPr>
        <p:spPr>
          <a:xfrm>
            <a:off x="839788" y="1665027"/>
            <a:ext cx="5247113" cy="4203961"/>
          </a:xfrm>
        </p:spPr>
        <p:txBody>
          <a:bodyPr>
            <a:normAutofit lnSpcReduction="10000"/>
          </a:bodyPr>
          <a:lstStyle/>
          <a:p>
            <a:pPr marL="342900" indent="-342900">
              <a:buFont typeface="Arial" panose="020B0604020202020204" pitchFamily="34" charset="0"/>
              <a:buChar char="•"/>
            </a:pPr>
            <a:r>
              <a:rPr lang="en-US" sz="2400" dirty="0"/>
              <a:t>The sole aim of kernel is to manage the communication between the software (user level applications) and the hardware (CPU, disk memory </a:t>
            </a:r>
            <a:r>
              <a:rPr lang="en-US" sz="2400" dirty="0" err="1"/>
              <a:t>etc</a:t>
            </a:r>
            <a:r>
              <a:rPr lang="en-US" sz="2400" dirty="0"/>
              <a:t>).</a:t>
            </a:r>
          </a:p>
          <a:p>
            <a:pPr marL="342900" indent="-342900">
              <a:buFont typeface="Arial" panose="020B0604020202020204" pitchFamily="34" charset="0"/>
              <a:buChar char="•"/>
            </a:pPr>
            <a:r>
              <a:rPr lang="en-US" sz="2400" dirty="0" smtClean="0"/>
              <a:t>In </a:t>
            </a:r>
            <a:r>
              <a:rPr lang="en-US" sz="2400" dirty="0"/>
              <a:t>computing, the kernel is the central component of most computer operating systems; it is a bridge between applications and the actual data processing done at the hardware level. </a:t>
            </a:r>
          </a:p>
          <a:p>
            <a:pPr marL="342900" indent="-342900">
              <a:buFont typeface="Arial" panose="020B0604020202020204" pitchFamily="34" charset="0"/>
              <a:buChar char="•"/>
            </a:pPr>
            <a:r>
              <a:rPr lang="en-US" sz="2400" dirty="0"/>
              <a:t>It acts as an interface between the user applications and the hardware. </a:t>
            </a:r>
          </a:p>
          <a:p>
            <a:pPr marL="342900" indent="-342900">
              <a:buFont typeface="Arial" panose="020B0604020202020204" pitchFamily="34" charset="0"/>
              <a:buChar char="•"/>
            </a:pPr>
            <a:endParaRPr lang="en-IN" sz="2400" dirty="0"/>
          </a:p>
        </p:txBody>
      </p:sp>
      <p:pic>
        <p:nvPicPr>
          <p:cNvPr id="6" name="Picture 5"/>
          <p:cNvPicPr>
            <a:picLocks noChangeAspect="1"/>
          </p:cNvPicPr>
          <p:nvPr/>
        </p:nvPicPr>
        <p:blipFill>
          <a:blip r:embed="rId2"/>
          <a:stretch>
            <a:fillRect/>
          </a:stretch>
        </p:blipFill>
        <p:spPr>
          <a:xfrm>
            <a:off x="6385517" y="2089067"/>
            <a:ext cx="5153025" cy="3752850"/>
          </a:xfrm>
          <a:prstGeom prst="rect">
            <a:avLst/>
          </a:prstGeom>
        </p:spPr>
      </p:pic>
    </p:spTree>
    <p:extLst>
      <p:ext uri="{BB962C8B-B14F-4D97-AF65-F5344CB8AC3E}">
        <p14:creationId xmlns:p14="http://schemas.microsoft.com/office/powerpoint/2010/main" val="409965835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RM Update on Twitter: &quot;Operating system market share worldwide May 2022 # marketshare #android #windows #ios #macosx #linux https://t.co/WC8QNNPE96&quot;  / Twit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1662" y="0"/>
            <a:ext cx="8818491" cy="62097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223324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Functions of Operation System</a:t>
            </a:r>
            <a:br>
              <a:rPr lang="en-IN" dirty="0"/>
            </a:br>
            <a:endParaRPr lang="en-IN" b="1" dirty="0"/>
          </a:p>
        </p:txBody>
      </p:sp>
      <p:sp>
        <p:nvSpPr>
          <p:cNvPr id="3" name="Content Placeholder 2"/>
          <p:cNvSpPr>
            <a:spLocks noGrp="1"/>
          </p:cNvSpPr>
          <p:nvPr>
            <p:ph idx="1"/>
          </p:nvPr>
        </p:nvSpPr>
        <p:spPr>
          <a:xfrm>
            <a:off x="838200" y="1296537"/>
            <a:ext cx="10515600" cy="4989608"/>
          </a:xfrm>
        </p:spPr>
        <p:txBody>
          <a:bodyPr>
            <a:normAutofit fontScale="77500" lnSpcReduction="20000"/>
          </a:bodyPr>
          <a:lstStyle/>
          <a:p>
            <a:pPr marL="0" indent="0" algn="just">
              <a:buNone/>
            </a:pPr>
            <a:r>
              <a:rPr lang="en-US" b="1" dirty="0"/>
              <a:t>Input/output Management: </a:t>
            </a:r>
            <a:r>
              <a:rPr lang="en-US" dirty="0"/>
              <a:t>What output will come from the input given by the user, the operating system runs this program. This management involves coordinating various input and output devices. It assigns the functions of those devices where one or more applications are executed.</a:t>
            </a:r>
          </a:p>
          <a:p>
            <a:pPr marL="0" indent="0" algn="just">
              <a:buNone/>
            </a:pPr>
            <a:r>
              <a:rPr lang="en-US" b="1" dirty="0" smtClean="0"/>
              <a:t>Memory </a:t>
            </a:r>
            <a:r>
              <a:rPr lang="en-US" b="1" dirty="0"/>
              <a:t>Management: </a:t>
            </a:r>
            <a:r>
              <a:rPr lang="en-US" dirty="0"/>
              <a:t>The operating system handles the responsibility of storing any data, system programs, and user programs in memory. This function of the operating system is called memory management</a:t>
            </a:r>
            <a:r>
              <a:rPr lang="en-US" dirty="0" smtClean="0"/>
              <a:t>.</a:t>
            </a:r>
            <a:endParaRPr lang="en-US" dirty="0"/>
          </a:p>
          <a:p>
            <a:pPr marL="0" indent="0" algn="just">
              <a:buNone/>
            </a:pPr>
            <a:r>
              <a:rPr lang="en-US" b="1" dirty="0"/>
              <a:t>File Management: </a:t>
            </a:r>
            <a:r>
              <a:rPr lang="en-US" dirty="0"/>
              <a:t>The operating system is helpful in making changes in the stored files and in replacing them. It also plays an important role in transferring various files to a device.</a:t>
            </a:r>
          </a:p>
          <a:p>
            <a:pPr marL="0" indent="0" algn="just">
              <a:buNone/>
            </a:pPr>
            <a:r>
              <a:rPr lang="en-US" b="1" dirty="0" smtClean="0"/>
              <a:t>Process </a:t>
            </a:r>
            <a:r>
              <a:rPr lang="en-US" b="1" dirty="0"/>
              <a:t>Management: </a:t>
            </a:r>
            <a:r>
              <a:rPr lang="en-US" dirty="0"/>
              <a:t>The </a:t>
            </a:r>
            <a:r>
              <a:rPr lang="en-US" dirty="0" smtClean="0"/>
              <a:t>process </a:t>
            </a:r>
            <a:r>
              <a:rPr lang="en-US" dirty="0"/>
              <a:t>is the execution of a program that accomplishes the specified work in that program. It can be defined as an execution unit where a program runs.</a:t>
            </a:r>
          </a:p>
          <a:p>
            <a:pPr marL="0" indent="0" algn="just">
              <a:buNone/>
            </a:pPr>
            <a:r>
              <a:rPr lang="en-US" b="1" dirty="0" smtClean="0"/>
              <a:t>Job </a:t>
            </a:r>
            <a:r>
              <a:rPr lang="en-US" b="1" dirty="0"/>
              <a:t>Priority: </a:t>
            </a:r>
            <a:r>
              <a:rPr lang="en-US" dirty="0"/>
              <a:t>The work of job priority is creation and promotion. It determines what action should be done first in a computer system</a:t>
            </a:r>
            <a:r>
              <a:rPr lang="en-US" dirty="0" smtClean="0"/>
              <a:t>.</a:t>
            </a:r>
          </a:p>
          <a:p>
            <a:pPr marL="0" indent="0" algn="just">
              <a:buNone/>
            </a:pPr>
            <a:r>
              <a:rPr lang="en-US" b="1" dirty="0"/>
              <a:t>Security:</a:t>
            </a:r>
            <a:r>
              <a:rPr lang="en-US" dirty="0"/>
              <a:t> Computer security is a very important aspect of any operating system. The reliability of an operating system is determined by how much better security it provides us. </a:t>
            </a:r>
            <a:endParaRPr lang="en-IN" dirty="0"/>
          </a:p>
        </p:txBody>
      </p:sp>
    </p:spTree>
    <p:extLst>
      <p:ext uri="{BB962C8B-B14F-4D97-AF65-F5344CB8AC3E}">
        <p14:creationId xmlns:p14="http://schemas.microsoft.com/office/powerpoint/2010/main" val="567931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ircle(in)">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ircle(in)">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circle(in)">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circle(in)">
                                      <p:cBhvr>
                                        <p:cTn id="32"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Types of Operating System</a:t>
            </a:r>
            <a:endParaRPr lang="en-IN" dirty="0"/>
          </a:p>
        </p:txBody>
      </p:sp>
      <p:sp>
        <p:nvSpPr>
          <p:cNvPr id="3" name="Content Placeholder 2"/>
          <p:cNvSpPr>
            <a:spLocks noGrp="1"/>
          </p:cNvSpPr>
          <p:nvPr>
            <p:ph idx="1"/>
          </p:nvPr>
        </p:nvSpPr>
        <p:spPr>
          <a:xfrm>
            <a:off x="838200" y="1398495"/>
            <a:ext cx="10680510" cy="4947714"/>
          </a:xfrm>
        </p:spPr>
        <p:txBody>
          <a:bodyPr>
            <a:normAutofit fontScale="70000" lnSpcReduction="20000"/>
          </a:bodyPr>
          <a:lstStyle/>
          <a:p>
            <a:r>
              <a:rPr lang="en-US" b="1" dirty="0"/>
              <a:t>Single-user, single task</a:t>
            </a:r>
            <a:r>
              <a:rPr lang="en-US" dirty="0"/>
              <a:t> - As the name implies, this operating system is designed to manage the computer so that one user can effectively do </a:t>
            </a:r>
            <a:r>
              <a:rPr lang="en-US" dirty="0">
                <a:hlinkClick r:id="rId2"/>
              </a:rPr>
              <a:t>one thing at a time</a:t>
            </a:r>
            <a:r>
              <a:rPr lang="en-US" dirty="0"/>
              <a:t>. </a:t>
            </a:r>
            <a:endParaRPr lang="en-US" dirty="0" smtClean="0"/>
          </a:p>
          <a:p>
            <a:pPr marL="0" indent="0">
              <a:buNone/>
            </a:pPr>
            <a:r>
              <a:rPr lang="en-US" dirty="0" smtClean="0"/>
              <a:t>	Ex: MS-DOS </a:t>
            </a:r>
            <a:r>
              <a:rPr lang="en-US" dirty="0"/>
              <a:t>is a good example of a single-user, single-task operating system.</a:t>
            </a:r>
          </a:p>
          <a:p>
            <a:r>
              <a:rPr lang="en-US" b="1" dirty="0"/>
              <a:t>Single-user, multitasking</a:t>
            </a:r>
            <a:r>
              <a:rPr lang="en-US" dirty="0"/>
              <a:t> - This is the type of operating system most people use on their desktop and laptop computers today. </a:t>
            </a:r>
            <a:endParaRPr lang="en-US" dirty="0" smtClean="0"/>
          </a:p>
          <a:p>
            <a:pPr marL="0" indent="0">
              <a:buNone/>
            </a:pPr>
            <a:r>
              <a:rPr lang="en-US" dirty="0" smtClean="0"/>
              <a:t>  	Ex: Microsoft Windows and </a:t>
            </a:r>
            <a:r>
              <a:rPr lang="en-US" dirty="0"/>
              <a:t>Apple's </a:t>
            </a:r>
            <a:r>
              <a:rPr lang="en-US" dirty="0" err="1" smtClean="0"/>
              <a:t>macOS</a:t>
            </a:r>
            <a:r>
              <a:rPr lang="en-US" dirty="0" smtClean="0"/>
              <a:t>.</a:t>
            </a:r>
          </a:p>
          <a:p>
            <a:r>
              <a:rPr lang="en-US" b="1" dirty="0"/>
              <a:t>Multiuser</a:t>
            </a:r>
            <a:r>
              <a:rPr lang="en-US" dirty="0"/>
              <a:t> - A multiuser operating system allows many different users to take </a:t>
            </a:r>
            <a:r>
              <a:rPr lang="en-US" dirty="0" smtClean="0"/>
              <a:t>advantage of </a:t>
            </a:r>
            <a:r>
              <a:rPr lang="en-US" dirty="0"/>
              <a:t>a computer's resources simultaneously. </a:t>
            </a:r>
            <a:endParaRPr lang="en-US" dirty="0" smtClean="0"/>
          </a:p>
          <a:p>
            <a:pPr marL="0" indent="0">
              <a:buNone/>
            </a:pPr>
            <a:r>
              <a:rPr lang="en-US" dirty="0" smtClean="0"/>
              <a:t>               Ex: Unix</a:t>
            </a:r>
            <a:r>
              <a:rPr lang="en-US" dirty="0"/>
              <a:t>, </a:t>
            </a:r>
            <a:r>
              <a:rPr lang="en-US" dirty="0">
                <a:hlinkClick r:id="rId3"/>
              </a:rPr>
              <a:t>VMS</a:t>
            </a:r>
            <a:r>
              <a:rPr lang="en-US" dirty="0"/>
              <a:t> and </a:t>
            </a:r>
            <a:r>
              <a:rPr lang="en-US" dirty="0">
                <a:hlinkClick r:id="rId4"/>
              </a:rPr>
              <a:t>mainframe operating systems</a:t>
            </a:r>
            <a:r>
              <a:rPr lang="en-US" dirty="0"/>
              <a:t>, such as </a:t>
            </a:r>
            <a:r>
              <a:rPr lang="en-US" i="1" dirty="0" smtClean="0"/>
              <a:t>MVS</a:t>
            </a:r>
            <a:r>
              <a:rPr lang="en-US" dirty="0"/>
              <a:t>.</a:t>
            </a:r>
            <a:endParaRPr lang="en-IN" dirty="0" smtClean="0"/>
          </a:p>
          <a:p>
            <a:r>
              <a:rPr lang="en-IN" b="1" dirty="0" smtClean="0"/>
              <a:t>Real </a:t>
            </a:r>
            <a:r>
              <a:rPr lang="en-IN" b="1" dirty="0"/>
              <a:t>Time Operating </a:t>
            </a:r>
            <a:r>
              <a:rPr lang="en-IN" b="1" dirty="0" smtClean="0"/>
              <a:t>System: </a:t>
            </a:r>
            <a:r>
              <a:rPr lang="en-US" dirty="0">
                <a:hlinkClick r:id="rId5"/>
              </a:rPr>
              <a:t>Real-time operating systems</a:t>
            </a:r>
            <a:r>
              <a:rPr lang="en-US" dirty="0"/>
              <a:t> are used to control machinery, scientific instruments and industrial systems. An RTOS typically has very little user-interface capability, and no end-user utilities since the system will be a "sealed box" when delivered for use</a:t>
            </a:r>
            <a:endParaRPr lang="en-IN" dirty="0"/>
          </a:p>
          <a:p>
            <a:pPr marL="0" indent="0">
              <a:buNone/>
            </a:pPr>
            <a:endParaRPr lang="en-IN" dirty="0"/>
          </a:p>
          <a:p>
            <a:r>
              <a:rPr lang="en-US" b="1" dirty="0"/>
              <a:t>Distributed</a:t>
            </a:r>
            <a:r>
              <a:rPr lang="en-US" dirty="0"/>
              <a:t>  A part of the distributed Operating system is installed on each machine to make their communication </a:t>
            </a:r>
            <a:r>
              <a:rPr lang="en-US" dirty="0" smtClean="0"/>
              <a:t>possible. </a:t>
            </a:r>
            <a:r>
              <a:rPr lang="en-US" dirty="0"/>
              <a:t>- These operating systems </a:t>
            </a:r>
            <a:r>
              <a:rPr lang="en-US" dirty="0">
                <a:hlinkClick r:id="rId6"/>
              </a:rPr>
              <a:t>manage multiple </a:t>
            </a:r>
            <a:r>
              <a:rPr lang="en-US" dirty="0" smtClean="0">
                <a:hlinkClick r:id="rId6"/>
              </a:rPr>
              <a:t>computers</a:t>
            </a:r>
            <a:r>
              <a:rPr lang="en-US" dirty="0"/>
              <a:t> at the same time. </a:t>
            </a:r>
            <a:endParaRPr lang="en-IN" dirty="0"/>
          </a:p>
        </p:txBody>
      </p:sp>
    </p:spTree>
    <p:extLst>
      <p:ext uri="{BB962C8B-B14F-4D97-AF65-F5344CB8AC3E}">
        <p14:creationId xmlns:p14="http://schemas.microsoft.com/office/powerpoint/2010/main" val="304488924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Computer Program</a:t>
            </a:r>
            <a:endParaRPr lang="en-IN" dirty="0"/>
          </a:p>
        </p:txBody>
      </p:sp>
      <p:sp>
        <p:nvSpPr>
          <p:cNvPr id="3" name="Content Placeholder 2"/>
          <p:cNvSpPr>
            <a:spLocks noGrp="1"/>
          </p:cNvSpPr>
          <p:nvPr>
            <p:ph idx="1"/>
          </p:nvPr>
        </p:nvSpPr>
        <p:spPr>
          <a:xfrm>
            <a:off x="838200" y="1398494"/>
            <a:ext cx="10515600" cy="5111487"/>
          </a:xfrm>
        </p:spPr>
        <p:txBody>
          <a:bodyPr>
            <a:normAutofit/>
          </a:bodyPr>
          <a:lstStyle/>
          <a:p>
            <a:r>
              <a:rPr lang="en-US" dirty="0"/>
              <a:t>A computer program is </a:t>
            </a:r>
            <a:r>
              <a:rPr lang="en-US" b="1" dirty="0"/>
              <a:t>a sequence or set of instructions in a programming language for a computer to execute</a:t>
            </a:r>
            <a:r>
              <a:rPr lang="en-US" dirty="0" smtClean="0"/>
              <a:t>.</a:t>
            </a:r>
          </a:p>
          <a:p>
            <a:r>
              <a:rPr lang="en-US" dirty="0"/>
              <a:t>A program gives the computer and user the ability to perform specific tasks. </a:t>
            </a:r>
          </a:p>
          <a:p>
            <a:endParaRPr lang="en-US" dirty="0"/>
          </a:p>
          <a:p>
            <a:r>
              <a:rPr lang="en-US" b="1" dirty="0"/>
              <a:t>Application-</a:t>
            </a:r>
            <a:r>
              <a:rPr lang="en-US" dirty="0"/>
              <a:t> A program or group of programs that is designed for the end user. </a:t>
            </a:r>
            <a:endParaRPr lang="en-IN" dirty="0" smtClean="0"/>
          </a:p>
          <a:p>
            <a:r>
              <a:rPr lang="en-IN" dirty="0" smtClean="0"/>
              <a:t> Ex: 	Amazon app, flip kart, SBI </a:t>
            </a:r>
            <a:r>
              <a:rPr lang="en-IN" dirty="0" err="1" smtClean="0"/>
              <a:t>yono</a:t>
            </a:r>
            <a:r>
              <a:rPr lang="en-IN" dirty="0" smtClean="0"/>
              <a:t> app, etc.</a:t>
            </a:r>
            <a:endParaRPr lang="en-IN" dirty="0"/>
          </a:p>
          <a:p>
            <a:r>
              <a:rPr lang="en-US" b="1" dirty="0" smtClean="0"/>
              <a:t>Software </a:t>
            </a:r>
            <a:r>
              <a:rPr lang="en-US" dirty="0"/>
              <a:t>can be made up of more than one program. </a:t>
            </a:r>
            <a:r>
              <a:rPr lang="en-US" dirty="0" smtClean="0"/>
              <a:t>The </a:t>
            </a:r>
            <a:r>
              <a:rPr lang="en-US" dirty="0"/>
              <a:t>programs and other operating information used by a computer</a:t>
            </a:r>
            <a:r>
              <a:rPr lang="en-US" dirty="0" smtClean="0"/>
              <a:t>.</a:t>
            </a:r>
          </a:p>
          <a:p>
            <a:r>
              <a:rPr lang="en-IN" dirty="0"/>
              <a:t>Ex: 	</a:t>
            </a:r>
            <a:r>
              <a:rPr lang="en-IN" dirty="0" smtClean="0"/>
              <a:t>Adobe, MS office, Browsers, Drivers, etc</a:t>
            </a:r>
            <a:r>
              <a:rPr lang="en-IN" dirty="0"/>
              <a:t>.</a:t>
            </a:r>
          </a:p>
        </p:txBody>
      </p:sp>
    </p:spTree>
    <p:extLst>
      <p:ext uri="{BB962C8B-B14F-4D97-AF65-F5344CB8AC3E}">
        <p14:creationId xmlns:p14="http://schemas.microsoft.com/office/powerpoint/2010/main" val="214914958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4182786" cy="1600200"/>
          </a:xfrm>
        </p:spPr>
        <p:txBody>
          <a:bodyPr>
            <a:normAutofit fontScale="90000"/>
          </a:bodyPr>
          <a:lstStyle/>
          <a:p>
            <a:r>
              <a:rPr lang="en-US" sz="5400" b="1" dirty="0" smtClean="0">
                <a:latin typeface="Times New Roman" panose="02020603050405020304" pitchFamily="18" charset="0"/>
                <a:cs typeface="Times New Roman" panose="02020603050405020304" pitchFamily="18" charset="0"/>
              </a:rPr>
              <a:t>Program execution flow</a:t>
            </a:r>
            <a:endParaRPr lang="en-US" sz="54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sz="half" idx="2"/>
          </p:nvPr>
        </p:nvSpPr>
        <p:spPr/>
        <p:txBody>
          <a:bodyPr/>
          <a:lstStyle/>
          <a:p>
            <a:r>
              <a:rPr lang="en-IN" sz="2800" dirty="0"/>
              <a:t>For the reference, we use here C programming. </a:t>
            </a:r>
          </a:p>
          <a:p>
            <a:endParaRPr lang="en-US" dirty="0"/>
          </a:p>
        </p:txBody>
      </p:sp>
      <p:pic>
        <p:nvPicPr>
          <p:cNvPr id="1026" name="Picture 2" descr="https://www.tutorialspoint.com/assets/questions/media/22259/source_code.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772025" y="47766"/>
            <a:ext cx="5470801" cy="62302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135671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p:txBody>
          <a:bodyPr>
            <a:normAutofit fontScale="92500" lnSpcReduction="10000"/>
          </a:bodyPr>
          <a:lstStyle/>
          <a:p>
            <a:pPr algn="just"/>
            <a:r>
              <a:rPr lang="en-US" b="1" dirty="0"/>
              <a:t>C Code</a:t>
            </a:r>
            <a:r>
              <a:rPr lang="en-US" dirty="0"/>
              <a:t> − This is the code that you have written. This code is sent to the Preprocessors section.</a:t>
            </a:r>
          </a:p>
          <a:p>
            <a:pPr algn="just"/>
            <a:r>
              <a:rPr lang="en-US" b="1" dirty="0"/>
              <a:t>Preprocessing</a:t>
            </a:r>
            <a:r>
              <a:rPr lang="en-US" dirty="0"/>
              <a:t> − In this section the preprocessor files are attached with our code. We have use different header files like </a:t>
            </a:r>
            <a:r>
              <a:rPr lang="en-US" b="1" i="1" dirty="0" err="1"/>
              <a:t>stdio.h</a:t>
            </a:r>
            <a:r>
              <a:rPr lang="en-US" b="1" i="1" dirty="0"/>
              <a:t>, </a:t>
            </a:r>
            <a:r>
              <a:rPr lang="en-US" b="1" i="1" dirty="0" err="1"/>
              <a:t>math.h</a:t>
            </a:r>
            <a:r>
              <a:rPr lang="en-US" b="1" dirty="0"/>
              <a:t> </a:t>
            </a:r>
            <a:r>
              <a:rPr lang="en-US" dirty="0"/>
              <a:t>etc. These files are attached with the C Source code and the final C Source generates. </a:t>
            </a:r>
            <a:r>
              <a:rPr lang="en-US" i="1" dirty="0"/>
              <a:t>(‘#include’, ‘#define</a:t>
            </a:r>
            <a:r>
              <a:rPr lang="en-US" dirty="0"/>
              <a:t>’ These are Preprocessor Directives</a:t>
            </a:r>
            <a:r>
              <a:rPr lang="en-US" dirty="0" smtClean="0"/>
              <a:t>.)</a:t>
            </a:r>
          </a:p>
          <a:p>
            <a:pPr algn="just"/>
            <a:r>
              <a:rPr lang="en-US" b="1" dirty="0" smtClean="0"/>
              <a:t>Compiler</a:t>
            </a:r>
            <a:r>
              <a:rPr lang="en-US" dirty="0"/>
              <a:t> − After generating the preprocessed source code, it moves to the compiler and the compiler generates the assembly level code after compiling the whole </a:t>
            </a:r>
            <a:r>
              <a:rPr lang="en-US" dirty="0" smtClean="0"/>
              <a:t>program.</a:t>
            </a:r>
          </a:p>
          <a:p>
            <a:pPr algn="just"/>
            <a:r>
              <a:rPr lang="en-US" b="1" dirty="0" smtClean="0"/>
              <a:t>Assembler</a:t>
            </a:r>
            <a:r>
              <a:rPr lang="en-US" dirty="0"/>
              <a:t> − This part takes the assembly level language from compiler and generates the Object code, this code is quite similar to the machine code (set of binary digits).</a:t>
            </a:r>
          </a:p>
          <a:p>
            <a:pPr marL="0" indent="0" algn="just">
              <a:buNone/>
            </a:pPr>
            <a:endParaRPr lang="en-US" dirty="0"/>
          </a:p>
        </p:txBody>
      </p:sp>
    </p:spTree>
    <p:extLst>
      <p:ext uri="{BB962C8B-B14F-4D97-AF65-F5344CB8AC3E}">
        <p14:creationId xmlns:p14="http://schemas.microsoft.com/office/powerpoint/2010/main" val="1792590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ircle(in)">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ircle(in)">
                                      <p:cBhvr>
                                        <p:cTn id="22"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p:txBody>
          <a:bodyPr/>
          <a:lstStyle/>
          <a:p>
            <a:pPr algn="just"/>
            <a:r>
              <a:rPr lang="en-US" b="1" dirty="0"/>
              <a:t>Linker</a:t>
            </a:r>
            <a:r>
              <a:rPr lang="en-US" dirty="0"/>
              <a:t> − Linker is another important part of the compilation process. It takes the object code and link it with other library files, these library files are not the part of our code, but it helps to execute the total program. After linking the Linker generates the final Machine code which is ready to </a:t>
            </a:r>
            <a:r>
              <a:rPr lang="en-US" dirty="0" smtClean="0"/>
              <a:t>execute.</a:t>
            </a:r>
          </a:p>
          <a:p>
            <a:pPr algn="just"/>
            <a:r>
              <a:rPr lang="en-US" b="1" dirty="0" smtClean="0"/>
              <a:t>Loader</a:t>
            </a:r>
            <a:r>
              <a:rPr lang="en-US" dirty="0"/>
              <a:t> − A program, will not be executed until it is not loaded </a:t>
            </a:r>
            <a:r>
              <a:rPr lang="en-US" dirty="0" smtClean="0"/>
              <a:t>into </a:t>
            </a:r>
            <a:r>
              <a:rPr lang="en-US" dirty="0"/>
              <a:t>Primary memory. Loader helps to load the machine code to RAM and helps to execute it. While executing the program is named as Process. So process is (Program in execution).</a:t>
            </a:r>
          </a:p>
          <a:p>
            <a:pPr marL="0" indent="0">
              <a:buNone/>
            </a:pPr>
            <a:endParaRPr lang="en-US" dirty="0"/>
          </a:p>
        </p:txBody>
      </p:sp>
    </p:spTree>
    <p:extLst>
      <p:ext uri="{BB962C8B-B14F-4D97-AF65-F5344CB8AC3E}">
        <p14:creationId xmlns:p14="http://schemas.microsoft.com/office/powerpoint/2010/main" val="387337544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How do we compile and run a C program</a:t>
            </a:r>
            <a:r>
              <a:rPr lang="en-US" dirty="0" smtClean="0"/>
              <a:t>?</a:t>
            </a:r>
            <a:r>
              <a:rPr lang="en-US" dirty="0"/>
              <a:t>  </a:t>
            </a:r>
          </a:p>
        </p:txBody>
      </p:sp>
      <p:sp>
        <p:nvSpPr>
          <p:cNvPr id="3" name="Content Placeholder 2"/>
          <p:cNvSpPr>
            <a:spLocks noGrp="1"/>
          </p:cNvSpPr>
          <p:nvPr>
            <p:ph idx="1"/>
          </p:nvPr>
        </p:nvSpPr>
        <p:spPr/>
        <p:txBody>
          <a:bodyPr>
            <a:normAutofit fontScale="92500" lnSpcReduction="10000"/>
          </a:bodyPr>
          <a:lstStyle/>
          <a:p>
            <a:pPr marL="0" indent="0">
              <a:buNone/>
            </a:pPr>
            <a:r>
              <a:rPr lang="en-US" dirty="0"/>
              <a:t>We first create a C program using an editor and save the file as </a:t>
            </a:r>
            <a:r>
              <a:rPr lang="en-US" dirty="0" err="1"/>
              <a:t>filename.c</a:t>
            </a:r>
            <a:endParaRPr lang="en-US" dirty="0"/>
          </a:p>
          <a:p>
            <a:pPr marL="0" indent="0">
              <a:buNone/>
            </a:pPr>
            <a:r>
              <a:rPr lang="en-US" dirty="0"/>
              <a:t> $ </a:t>
            </a:r>
            <a:r>
              <a:rPr lang="en-US" b="1" dirty="0"/>
              <a:t>vi </a:t>
            </a:r>
            <a:r>
              <a:rPr lang="en-US" b="1" dirty="0" err="1" smtClean="0"/>
              <a:t>filename.c</a:t>
            </a:r>
            <a:endParaRPr lang="en-US" b="1" dirty="0"/>
          </a:p>
          <a:p>
            <a:pPr marL="0" indent="0">
              <a:buNone/>
            </a:pPr>
            <a:endParaRPr lang="en-US" b="1" dirty="0" smtClean="0"/>
          </a:p>
          <a:p>
            <a:pPr marL="0" indent="0">
              <a:buNone/>
            </a:pPr>
            <a:r>
              <a:rPr lang="en-US" b="1" dirty="0" smtClean="0"/>
              <a:t>$</a:t>
            </a:r>
            <a:r>
              <a:rPr lang="en-US" b="1" dirty="0" err="1" smtClean="0"/>
              <a:t>gcc</a:t>
            </a:r>
            <a:r>
              <a:rPr lang="en-US" b="1" dirty="0" smtClean="0"/>
              <a:t> </a:t>
            </a:r>
            <a:r>
              <a:rPr lang="en-US" b="1" dirty="0" err="1" smtClean="0"/>
              <a:t>filename.c</a:t>
            </a:r>
            <a:endParaRPr lang="en-US" b="1" dirty="0"/>
          </a:p>
          <a:p>
            <a:pPr marL="0" indent="0">
              <a:buNone/>
            </a:pPr>
            <a:r>
              <a:rPr lang="en-US" b="1" dirty="0" smtClean="0"/>
              <a:t>$./</a:t>
            </a:r>
            <a:r>
              <a:rPr lang="en-US" b="1" dirty="0" err="1" smtClean="0"/>
              <a:t>a.out</a:t>
            </a:r>
            <a:endParaRPr lang="en-US" b="1" dirty="0" smtClean="0"/>
          </a:p>
          <a:p>
            <a:pPr marL="0" indent="0">
              <a:buNone/>
            </a:pPr>
            <a:endParaRPr lang="en-US" b="1" dirty="0"/>
          </a:p>
          <a:p>
            <a:pPr marL="0" indent="0">
              <a:buNone/>
            </a:pPr>
            <a:r>
              <a:rPr lang="en-US" b="1" dirty="0" smtClean="0"/>
              <a:t>Or </a:t>
            </a:r>
          </a:p>
          <a:p>
            <a:pPr marL="0" lvl="0" indent="0">
              <a:buNone/>
            </a:pPr>
            <a:r>
              <a:rPr lang="en-US" altLang="en-US" dirty="0" smtClean="0">
                <a:latin typeface="inherit"/>
              </a:rPr>
              <a:t>$</a:t>
            </a:r>
            <a:r>
              <a:rPr lang="en-US" altLang="en-US" dirty="0" err="1" smtClean="0">
                <a:latin typeface="inherit"/>
              </a:rPr>
              <a:t>gcc</a:t>
            </a:r>
            <a:r>
              <a:rPr lang="en-US" altLang="en-US" dirty="0" smtClean="0">
                <a:latin typeface="inherit"/>
              </a:rPr>
              <a:t> </a:t>
            </a:r>
            <a:r>
              <a:rPr lang="en-US" altLang="en-US" dirty="0">
                <a:latin typeface="inherit"/>
              </a:rPr>
              <a:t>-o hello </a:t>
            </a:r>
            <a:r>
              <a:rPr lang="en-US" altLang="en-US" dirty="0" err="1" smtClean="0">
                <a:latin typeface="inherit"/>
              </a:rPr>
              <a:t>hello.c</a:t>
            </a:r>
            <a:endParaRPr lang="en-US" altLang="en-US" dirty="0" smtClean="0">
              <a:latin typeface="inherit"/>
            </a:endParaRPr>
          </a:p>
          <a:p>
            <a:pPr marL="0" lvl="0" indent="0">
              <a:buNone/>
            </a:pPr>
            <a:r>
              <a:rPr lang="en-US" altLang="en-US" dirty="0" smtClean="0">
                <a:latin typeface="inherit"/>
              </a:rPr>
              <a:t> $./</a:t>
            </a:r>
            <a:r>
              <a:rPr lang="en-US" altLang="en-US" dirty="0">
                <a:latin typeface="inherit"/>
              </a:rPr>
              <a:t>hello</a:t>
            </a:r>
            <a:r>
              <a:rPr lang="en-US" altLang="en-US" sz="3600" dirty="0"/>
              <a:t> </a:t>
            </a:r>
            <a:endParaRPr lang="en-US" altLang="en-US" sz="5400" dirty="0">
              <a:latin typeface="Arial" panose="020B0604020202020204" pitchFamily="34" charset="0"/>
            </a:endParaRPr>
          </a:p>
          <a:p>
            <a:pPr marL="0" indent="0">
              <a:buNone/>
            </a:pPr>
            <a:endParaRPr lang="en-US" b="1" dirty="0" smtClean="0"/>
          </a:p>
        </p:txBody>
      </p:sp>
      <p:pic>
        <p:nvPicPr>
          <p:cNvPr id="9" name="Picture 8"/>
          <p:cNvPicPr>
            <a:picLocks noChangeAspect="1"/>
          </p:cNvPicPr>
          <p:nvPr/>
        </p:nvPicPr>
        <p:blipFill>
          <a:blip r:embed="rId2"/>
          <a:stretch>
            <a:fillRect/>
          </a:stretch>
        </p:blipFill>
        <p:spPr>
          <a:xfrm>
            <a:off x="5048249" y="2478156"/>
            <a:ext cx="6305549" cy="3698807"/>
          </a:xfrm>
          <a:prstGeom prst="rect">
            <a:avLst/>
          </a:prstGeom>
        </p:spPr>
      </p:pic>
      <p:sp>
        <p:nvSpPr>
          <p:cNvPr id="8" name="Rectangle 2"/>
          <p:cNvSpPr>
            <a:spLocks noChangeArrowheads="1"/>
          </p:cNvSpPr>
          <p:nvPr/>
        </p:nvSpPr>
        <p:spPr bwMode="auto">
          <a:xfrm>
            <a:off x="0" y="90100"/>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694380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Theme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1" id="{58358038-F5DF-49FD-B245-5B90D49D46BA}" vid="{A77E1F0C-918E-4F65-951B-A07B39159B7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1737</TotalTime>
  <Words>360</Words>
  <Application>Microsoft Office PowerPoint</Application>
  <PresentationFormat>Widescreen</PresentationFormat>
  <Paragraphs>72</Paragraphs>
  <Slides>14</Slides>
  <Notes>0</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Calibri</vt:lpstr>
      <vt:lpstr>DIN Next LT Pro</vt:lpstr>
      <vt:lpstr>inherit</vt:lpstr>
      <vt:lpstr>Times New Roman</vt:lpstr>
      <vt:lpstr>Verdana</vt:lpstr>
      <vt:lpstr>Wingdings</vt:lpstr>
      <vt:lpstr>Theme1</vt:lpstr>
      <vt:lpstr>CS1101 Introduction to Computer Programming and Data Structures</vt:lpstr>
      <vt:lpstr>Outline</vt:lpstr>
      <vt:lpstr>Operating System</vt:lpstr>
      <vt:lpstr>Features of OS</vt:lpstr>
      <vt:lpstr>Logical Architecture of a Computer System</vt:lpstr>
      <vt:lpstr>Kernel</vt:lpstr>
      <vt:lpstr>PowerPoint Presentation</vt:lpstr>
      <vt:lpstr>Functions of Operation System </vt:lpstr>
      <vt:lpstr>Types of Operating System</vt:lpstr>
      <vt:lpstr>Computer Program</vt:lpstr>
      <vt:lpstr>Program execution flow</vt:lpstr>
      <vt:lpstr>Cont…</vt:lpstr>
      <vt:lpstr>Cont…</vt:lpstr>
      <vt:lpstr>How do we compile and run a C program?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Programming</dc:title>
  <dc:creator>Windows User</dc:creator>
  <cp:lastModifiedBy>Windows User</cp:lastModifiedBy>
  <cp:revision>100</cp:revision>
  <dcterms:created xsi:type="dcterms:W3CDTF">2022-11-10T11:00:54Z</dcterms:created>
  <dcterms:modified xsi:type="dcterms:W3CDTF">2022-11-28T10:34:45Z</dcterms:modified>
</cp:coreProperties>
</file>